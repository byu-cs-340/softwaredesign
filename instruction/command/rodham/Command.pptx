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77" r:id="rId5"/>
    <p:sldId id="279" r:id="rId6"/>
    <p:sldId id="280" r:id="rId7"/>
    <p:sldId id="262" r:id="rId8"/>
    <p:sldId id="263" r:id="rId9"/>
    <p:sldId id="265" r:id="rId10"/>
    <p:sldId id="269" r:id="rId11"/>
    <p:sldId id="271" r:id="rId12"/>
    <p:sldId id="272" r:id="rId13"/>
    <p:sldId id="273" r:id="rId14"/>
    <p:sldId id="275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13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AE7DB-BA57-446A-B388-A4B394D5F20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195FBD-4FC0-4BE3-A8BA-82EBE7B9E7B1}">
      <dgm:prSet/>
      <dgm:spPr/>
      <dgm:t>
        <a:bodyPr/>
        <a:lstStyle/>
        <a:p>
          <a:r>
            <a:rPr lang="en-US"/>
            <a:t>Sometimes a class needs to perform actions without knowing what the actions are</a:t>
          </a:r>
        </a:p>
      </dgm:t>
    </dgm:pt>
    <dgm:pt modelId="{34608781-D94F-4F85-AA48-81A57560510B}" type="parTrans" cxnId="{6E81CEA7-DD72-49FC-A53B-3144C29C58A1}">
      <dgm:prSet/>
      <dgm:spPr/>
      <dgm:t>
        <a:bodyPr/>
        <a:lstStyle/>
        <a:p>
          <a:endParaRPr lang="en-US"/>
        </a:p>
      </dgm:t>
    </dgm:pt>
    <dgm:pt modelId="{23035A95-4C75-489A-BF32-938D03A74455}" type="sibTrans" cxnId="{6E81CEA7-DD72-49FC-A53B-3144C29C58A1}">
      <dgm:prSet/>
      <dgm:spPr/>
      <dgm:t>
        <a:bodyPr/>
        <a:lstStyle/>
        <a:p>
          <a:endParaRPr lang="en-US"/>
        </a:p>
      </dgm:t>
    </dgm:pt>
    <dgm:pt modelId="{6EA83B3D-C1A6-4808-85B8-35B7F1A4D168}">
      <dgm:prSet/>
      <dgm:spPr/>
      <dgm:t>
        <a:bodyPr/>
        <a:lstStyle/>
        <a:p>
          <a:r>
            <a:rPr lang="en-US"/>
            <a:t>Sometimes actions need to be treated as data objects that can be stored or passed around</a:t>
          </a:r>
        </a:p>
      </dgm:t>
    </dgm:pt>
    <dgm:pt modelId="{030592FF-88AA-4913-BD6E-6C3B782C8289}" type="parTrans" cxnId="{2CA951AD-7E67-4273-8D00-12ADB223CE6D}">
      <dgm:prSet/>
      <dgm:spPr/>
      <dgm:t>
        <a:bodyPr/>
        <a:lstStyle/>
        <a:p>
          <a:endParaRPr lang="en-US"/>
        </a:p>
      </dgm:t>
    </dgm:pt>
    <dgm:pt modelId="{52BF6985-73F3-4E7A-BDF3-4496748AA477}" type="sibTrans" cxnId="{2CA951AD-7E67-4273-8D00-12ADB223CE6D}">
      <dgm:prSet/>
      <dgm:spPr/>
      <dgm:t>
        <a:bodyPr/>
        <a:lstStyle/>
        <a:p>
          <a:endParaRPr lang="en-US"/>
        </a:p>
      </dgm:t>
    </dgm:pt>
    <dgm:pt modelId="{D49272B2-1F2B-4C09-8CBF-4D8AA8063912}" type="pres">
      <dgm:prSet presAssocID="{672AE7DB-BA57-446A-B388-A4B394D5F20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1237BE-1567-4E90-B24B-4072F407593B}" type="pres">
      <dgm:prSet presAssocID="{98195FBD-4FC0-4BE3-A8BA-82EBE7B9E7B1}" presName="hierRoot1" presStyleCnt="0"/>
      <dgm:spPr/>
    </dgm:pt>
    <dgm:pt modelId="{23E00935-9FAB-45D3-B01C-4A87090177CC}" type="pres">
      <dgm:prSet presAssocID="{98195FBD-4FC0-4BE3-A8BA-82EBE7B9E7B1}" presName="composite" presStyleCnt="0"/>
      <dgm:spPr/>
    </dgm:pt>
    <dgm:pt modelId="{8B694900-A0C0-4C0B-89D1-335A693B6F05}" type="pres">
      <dgm:prSet presAssocID="{98195FBD-4FC0-4BE3-A8BA-82EBE7B9E7B1}" presName="background" presStyleLbl="node0" presStyleIdx="0" presStyleCnt="2"/>
      <dgm:spPr/>
    </dgm:pt>
    <dgm:pt modelId="{5F215668-48A5-4DFE-B97A-CC7234A5DD27}" type="pres">
      <dgm:prSet presAssocID="{98195FBD-4FC0-4BE3-A8BA-82EBE7B9E7B1}" presName="text" presStyleLbl="fgAcc0" presStyleIdx="0" presStyleCnt="2">
        <dgm:presLayoutVars>
          <dgm:chPref val="3"/>
        </dgm:presLayoutVars>
      </dgm:prSet>
      <dgm:spPr/>
    </dgm:pt>
    <dgm:pt modelId="{2F7738D6-1BA2-4CD6-8A9D-2C3F45EC1B1E}" type="pres">
      <dgm:prSet presAssocID="{98195FBD-4FC0-4BE3-A8BA-82EBE7B9E7B1}" presName="hierChild2" presStyleCnt="0"/>
      <dgm:spPr/>
    </dgm:pt>
    <dgm:pt modelId="{D5DEE297-C4DC-4847-9A15-21EA39093F9E}" type="pres">
      <dgm:prSet presAssocID="{6EA83B3D-C1A6-4808-85B8-35B7F1A4D168}" presName="hierRoot1" presStyleCnt="0"/>
      <dgm:spPr/>
    </dgm:pt>
    <dgm:pt modelId="{47861355-88EF-4B70-8EFB-8CFB55A8E040}" type="pres">
      <dgm:prSet presAssocID="{6EA83B3D-C1A6-4808-85B8-35B7F1A4D168}" presName="composite" presStyleCnt="0"/>
      <dgm:spPr/>
    </dgm:pt>
    <dgm:pt modelId="{23C1924F-8E97-4C83-BA9F-872806902C4A}" type="pres">
      <dgm:prSet presAssocID="{6EA83B3D-C1A6-4808-85B8-35B7F1A4D168}" presName="background" presStyleLbl="node0" presStyleIdx="1" presStyleCnt="2"/>
      <dgm:spPr/>
    </dgm:pt>
    <dgm:pt modelId="{A8A05E87-2FD6-47F0-A0CD-4EE841CB3A22}" type="pres">
      <dgm:prSet presAssocID="{6EA83B3D-C1A6-4808-85B8-35B7F1A4D168}" presName="text" presStyleLbl="fgAcc0" presStyleIdx="1" presStyleCnt="2">
        <dgm:presLayoutVars>
          <dgm:chPref val="3"/>
        </dgm:presLayoutVars>
      </dgm:prSet>
      <dgm:spPr/>
    </dgm:pt>
    <dgm:pt modelId="{22B9C5AC-295B-4E3B-89C7-8296738F9C24}" type="pres">
      <dgm:prSet presAssocID="{6EA83B3D-C1A6-4808-85B8-35B7F1A4D168}" presName="hierChild2" presStyleCnt="0"/>
      <dgm:spPr/>
    </dgm:pt>
  </dgm:ptLst>
  <dgm:cxnLst>
    <dgm:cxn modelId="{8A386C0D-0131-4A75-B038-1731B2B6472C}" type="presOf" srcId="{6EA83B3D-C1A6-4808-85B8-35B7F1A4D168}" destId="{A8A05E87-2FD6-47F0-A0CD-4EE841CB3A22}" srcOrd="0" destOrd="0" presId="urn:microsoft.com/office/officeart/2005/8/layout/hierarchy1"/>
    <dgm:cxn modelId="{C4CB8850-E733-462B-9EDD-ED9E39DCC29C}" type="presOf" srcId="{98195FBD-4FC0-4BE3-A8BA-82EBE7B9E7B1}" destId="{5F215668-48A5-4DFE-B97A-CC7234A5DD27}" srcOrd="0" destOrd="0" presId="urn:microsoft.com/office/officeart/2005/8/layout/hierarchy1"/>
    <dgm:cxn modelId="{6E81CEA7-DD72-49FC-A53B-3144C29C58A1}" srcId="{672AE7DB-BA57-446A-B388-A4B394D5F207}" destId="{98195FBD-4FC0-4BE3-A8BA-82EBE7B9E7B1}" srcOrd="0" destOrd="0" parTransId="{34608781-D94F-4F85-AA48-81A57560510B}" sibTransId="{23035A95-4C75-489A-BF32-938D03A74455}"/>
    <dgm:cxn modelId="{2CA951AD-7E67-4273-8D00-12ADB223CE6D}" srcId="{672AE7DB-BA57-446A-B388-A4B394D5F207}" destId="{6EA83B3D-C1A6-4808-85B8-35B7F1A4D168}" srcOrd="1" destOrd="0" parTransId="{030592FF-88AA-4913-BD6E-6C3B782C8289}" sibTransId="{52BF6985-73F3-4E7A-BDF3-4496748AA477}"/>
    <dgm:cxn modelId="{B5261DC3-E561-4563-92B8-9CB30EA6CF2C}" type="presOf" srcId="{672AE7DB-BA57-446A-B388-A4B394D5F207}" destId="{D49272B2-1F2B-4C09-8CBF-4D8AA8063912}" srcOrd="0" destOrd="0" presId="urn:microsoft.com/office/officeart/2005/8/layout/hierarchy1"/>
    <dgm:cxn modelId="{6ED3B63F-5998-4877-A9FA-0C8E7D6DD2AA}" type="presParOf" srcId="{D49272B2-1F2B-4C09-8CBF-4D8AA8063912}" destId="{F71237BE-1567-4E90-B24B-4072F407593B}" srcOrd="0" destOrd="0" presId="urn:microsoft.com/office/officeart/2005/8/layout/hierarchy1"/>
    <dgm:cxn modelId="{C4F590A1-5288-4C8F-8F1E-241ACBC2B7AC}" type="presParOf" srcId="{F71237BE-1567-4E90-B24B-4072F407593B}" destId="{23E00935-9FAB-45D3-B01C-4A87090177CC}" srcOrd="0" destOrd="0" presId="urn:microsoft.com/office/officeart/2005/8/layout/hierarchy1"/>
    <dgm:cxn modelId="{329F5C21-9272-403E-BC53-D6D153C91BAE}" type="presParOf" srcId="{23E00935-9FAB-45D3-B01C-4A87090177CC}" destId="{8B694900-A0C0-4C0B-89D1-335A693B6F05}" srcOrd="0" destOrd="0" presId="urn:microsoft.com/office/officeart/2005/8/layout/hierarchy1"/>
    <dgm:cxn modelId="{98D1518A-9099-4F12-8561-2F1EBB844756}" type="presParOf" srcId="{23E00935-9FAB-45D3-B01C-4A87090177CC}" destId="{5F215668-48A5-4DFE-B97A-CC7234A5DD27}" srcOrd="1" destOrd="0" presId="urn:microsoft.com/office/officeart/2005/8/layout/hierarchy1"/>
    <dgm:cxn modelId="{79E8C22B-7034-4D46-90AA-C8407F72E1C8}" type="presParOf" srcId="{F71237BE-1567-4E90-B24B-4072F407593B}" destId="{2F7738D6-1BA2-4CD6-8A9D-2C3F45EC1B1E}" srcOrd="1" destOrd="0" presId="urn:microsoft.com/office/officeart/2005/8/layout/hierarchy1"/>
    <dgm:cxn modelId="{1B898629-62E8-4418-8C00-23AD1A3A637B}" type="presParOf" srcId="{D49272B2-1F2B-4C09-8CBF-4D8AA8063912}" destId="{D5DEE297-C4DC-4847-9A15-21EA39093F9E}" srcOrd="1" destOrd="0" presId="urn:microsoft.com/office/officeart/2005/8/layout/hierarchy1"/>
    <dgm:cxn modelId="{E90FEA52-7124-481A-9582-C7A2D64D406D}" type="presParOf" srcId="{D5DEE297-C4DC-4847-9A15-21EA39093F9E}" destId="{47861355-88EF-4B70-8EFB-8CFB55A8E040}" srcOrd="0" destOrd="0" presId="urn:microsoft.com/office/officeart/2005/8/layout/hierarchy1"/>
    <dgm:cxn modelId="{E7250D44-751C-4356-8781-10A29EE33D77}" type="presParOf" srcId="{47861355-88EF-4B70-8EFB-8CFB55A8E040}" destId="{23C1924F-8E97-4C83-BA9F-872806902C4A}" srcOrd="0" destOrd="0" presId="urn:microsoft.com/office/officeart/2005/8/layout/hierarchy1"/>
    <dgm:cxn modelId="{307F4DA8-31F7-48BE-BB2B-55C0B7CD9EFB}" type="presParOf" srcId="{47861355-88EF-4B70-8EFB-8CFB55A8E040}" destId="{A8A05E87-2FD6-47F0-A0CD-4EE841CB3A22}" srcOrd="1" destOrd="0" presId="urn:microsoft.com/office/officeart/2005/8/layout/hierarchy1"/>
    <dgm:cxn modelId="{056453D5-6E19-44CA-81F5-E2DF013C939B}" type="presParOf" srcId="{D5DEE297-C4DC-4847-9A15-21EA39093F9E}" destId="{22B9C5AC-295B-4E3B-89C7-8296738F9C2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94900-A0C0-4C0B-89D1-335A693B6F05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15668-48A5-4DFE-B97A-CC7234A5DD2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Sometimes a class needs to perform actions without knowing what the actions are</a:t>
          </a:r>
        </a:p>
      </dsp:txBody>
      <dsp:txXfrm>
        <a:off x="456496" y="980400"/>
        <a:ext cx="3381034" cy="2099279"/>
      </dsp:txXfrm>
    </dsp:sp>
    <dsp:sp modelId="{23C1924F-8E97-4C83-BA9F-872806902C4A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05E87-2FD6-47F0-A0CD-4EE841CB3A2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Sometimes actions need to be treated as data objects that can be stored or passed around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232B160-BD03-4D2A-BA3E-9237C8929AB6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0D56C1-1229-4643-95CF-8765A15D035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41584D5-1931-4150-A90F-65A1E305F0E9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75D289F-E8F7-4C18-B455-4B1E8178D0B4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A71A15D-0116-4E2E-8897-21457C70C7C2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7391E67-1F52-428E-8558-BE7BA9433755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B4DEE32-3135-43EC-A0BB-E27B099852AF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795AAC9-4A67-459D-B836-DCCBD80CA66A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CD8014-ABFD-407E-933E-562F0BFB11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672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24791C-4612-4CAF-BF23-63DFF6D064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206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8623B5-8219-483A-B21B-0995953484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81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E53827-6F70-4C22-BB97-D21D21B212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383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F18F63-F4C9-48A4-A8E9-17F3FCEBCB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14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9A7222-F245-4B92-9D85-FED540AD70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7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C4FCA8-DDCB-4148-8DEE-8B706FB613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97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AFAA25-4CBB-4C5F-8487-20569C4F9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65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6EF2D7-46FD-4642-937F-39B48EF91A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40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88E09-ABD0-46B8-90EA-E4B56736BA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94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68C633-6077-4B37-B836-729B6900F6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09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885442-E9F2-48A5-8CC8-AB2C29C59C2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Freeform: Shape 411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 eaLnBrk="1" hangingPunct="1"/>
            <a:r>
              <a:rPr lang="en-US" altLang="en-US" sz="4200" dirty="0">
                <a:solidFill>
                  <a:srgbClr val="FFFFFF"/>
                </a:solidFill>
              </a:rPr>
              <a:t>Command Design Pattern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 eaLnBrk="1" hangingPunct="1"/>
            <a:r>
              <a:rPr lang="en-US" altLang="en-US" dirty="0"/>
              <a:t>Source: Design Patterns – Elements of Reusable Object-Oriented Software; Gamma, et. 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2" name="Rectangle 514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6" name="Rectangle 514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8" name="Rectangle 514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500" dirty="0">
                <a:solidFill>
                  <a:srgbClr val="FFFFFF"/>
                </a:solidFill>
              </a:rPr>
              <a:t>Problem</a:t>
            </a:r>
          </a:p>
        </p:txBody>
      </p:sp>
      <p:graphicFrame>
        <p:nvGraphicFramePr>
          <p:cNvPr id="5138" name="Rectangle 3">
            <a:extLst>
              <a:ext uri="{FF2B5EF4-FFF2-40B4-BE49-F238E27FC236}">
                <a16:creationId xmlns:a16="http://schemas.microsoft.com/office/drawing/2014/main" id="{EEFD8BF5-6BD1-CC2D-5A20-C9AF25D27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03267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2" name="Rectangle 820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4" name="Rectangle 820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6" name="Rectangle 820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8" name="Rectangle 820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>
                <a:solidFill>
                  <a:srgbClr val="FFFFFF"/>
                </a:solidFill>
              </a:rPr>
              <a:t>Example: Task Scheduling Service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066799" y="1859879"/>
            <a:ext cx="7293023" cy="368335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1700" dirty="0"/>
              <a:t>Generic task scheduling service</a:t>
            </a:r>
          </a:p>
          <a:p>
            <a:pPr eaLnBrk="1" hangingPunct="1"/>
            <a:r>
              <a:rPr lang="en-US" altLang="en-US" sz="1700" dirty="0"/>
              <a:t>Allow tasks to be scheduled by</a:t>
            </a:r>
          </a:p>
          <a:p>
            <a:pPr lvl="1" eaLnBrk="1" hangingPunct="1"/>
            <a:r>
              <a:rPr lang="en-US" altLang="en-US" sz="1700" dirty="0"/>
              <a:t>Interval (e.g., every hour)</a:t>
            </a:r>
          </a:p>
          <a:p>
            <a:pPr lvl="1" eaLnBrk="1" hangingPunct="1"/>
            <a:r>
              <a:rPr lang="en-US" altLang="en-US" sz="1700" dirty="0"/>
              <a:t>Date/time (e.g., on February 8</a:t>
            </a:r>
            <a:r>
              <a:rPr lang="en-US" altLang="en-US" sz="1700" baseline="30000" dirty="0"/>
              <a:t>th</a:t>
            </a:r>
            <a:r>
              <a:rPr lang="en-US" altLang="en-US" sz="1700" dirty="0"/>
              <a:t> at 1:00pm)</a:t>
            </a:r>
          </a:p>
          <a:p>
            <a:pPr lvl="1" eaLnBrk="1" hangingPunct="1"/>
            <a:r>
              <a:rPr lang="en-US" altLang="en-US" sz="1700" dirty="0"/>
              <a:t>Etc.</a:t>
            </a:r>
          </a:p>
          <a:p>
            <a:pPr lvl="1"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Tasks are defined using Command objects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Scheduling service executes Command object at the appropriate time, having no idea what it actually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19FFC-E3CD-67A4-9458-5C37FC5C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Command 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96951-7690-946C-C19A-79ADF6D8DA5B}"/>
              </a:ext>
            </a:extLst>
          </p:cNvPr>
          <p:cNvSpPr/>
          <p:nvPr/>
        </p:nvSpPr>
        <p:spPr>
          <a:xfrm>
            <a:off x="3278497" y="1983711"/>
            <a:ext cx="2590800" cy="9144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118CD8-DC15-DBDD-65F5-E61B4052F7D9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3278497" y="2440911"/>
            <a:ext cx="259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2E2BF2-89FF-34EC-1E0D-6E2F6F2EBAAD}"/>
              </a:ext>
            </a:extLst>
          </p:cNvPr>
          <p:cNvSpPr txBox="1"/>
          <p:nvPr/>
        </p:nvSpPr>
        <p:spPr>
          <a:xfrm>
            <a:off x="3827118" y="203807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1E8A1-056A-2CA3-3BA2-93347F837C29}"/>
              </a:ext>
            </a:extLst>
          </p:cNvPr>
          <p:cNvSpPr txBox="1"/>
          <p:nvPr/>
        </p:nvSpPr>
        <p:spPr>
          <a:xfrm>
            <a:off x="3852076" y="1622745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&lt;interface&gt;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08E5A-E234-7AEB-5244-4895AE3C7F26}"/>
              </a:ext>
            </a:extLst>
          </p:cNvPr>
          <p:cNvSpPr txBox="1"/>
          <p:nvPr/>
        </p:nvSpPr>
        <p:spPr>
          <a:xfrm>
            <a:off x="3690173" y="2475661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execute(): void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35C107-A2AA-B624-F850-0781061AC05F}"/>
              </a:ext>
            </a:extLst>
          </p:cNvPr>
          <p:cNvSpPr/>
          <p:nvPr/>
        </p:nvSpPr>
        <p:spPr>
          <a:xfrm>
            <a:off x="3253615" y="4345046"/>
            <a:ext cx="25908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2EFB8-8D0F-54F9-1410-5BE977BB729C}"/>
              </a:ext>
            </a:extLst>
          </p:cNvPr>
          <p:cNvSpPr txBox="1"/>
          <p:nvPr/>
        </p:nvSpPr>
        <p:spPr>
          <a:xfrm>
            <a:off x="3203133" y="4423730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CONCRETE COMMAND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3A4AFC-FD3E-FC67-5506-95F9BD0217AC}"/>
              </a:ext>
            </a:extLst>
          </p:cNvPr>
          <p:cNvCxnSpPr/>
          <p:nvPr/>
        </p:nvCxnSpPr>
        <p:spPr>
          <a:xfrm>
            <a:off x="3253615" y="4878446"/>
            <a:ext cx="259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548FBA-F453-F436-1392-033D86EE301C}"/>
              </a:ext>
            </a:extLst>
          </p:cNvPr>
          <p:cNvSpPr txBox="1"/>
          <p:nvPr/>
        </p:nvSpPr>
        <p:spPr>
          <a:xfrm>
            <a:off x="3703269" y="4865720"/>
            <a:ext cx="1691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data required to </a:t>
            </a:r>
          </a:p>
          <a:p>
            <a:r>
              <a:rPr lang="en-US" sz="1800" dirty="0"/>
              <a:t>perform action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90382-6DE4-C16D-AAEE-1442D678EDFE}"/>
              </a:ext>
            </a:extLst>
          </p:cNvPr>
          <p:cNvSpPr txBox="1"/>
          <p:nvPr/>
        </p:nvSpPr>
        <p:spPr>
          <a:xfrm>
            <a:off x="3331423" y="5489705"/>
            <a:ext cx="25378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execute(): void {</a:t>
            </a:r>
          </a:p>
          <a:p>
            <a:r>
              <a:rPr lang="en-US" sz="1800" dirty="0"/>
              <a:t>    logic to perform action</a:t>
            </a:r>
          </a:p>
          <a:p>
            <a:r>
              <a:rPr lang="en-US" sz="1800" dirty="0"/>
              <a:t>}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0527D4-DDA3-3A63-5E18-4B7699ACA8DF}"/>
              </a:ext>
            </a:extLst>
          </p:cNvPr>
          <p:cNvCxnSpPr/>
          <p:nvPr/>
        </p:nvCxnSpPr>
        <p:spPr>
          <a:xfrm>
            <a:off x="3239604" y="5506412"/>
            <a:ext cx="259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2D03790-2E45-BECE-5849-FC31210037D0}"/>
              </a:ext>
            </a:extLst>
          </p:cNvPr>
          <p:cNvSpPr/>
          <p:nvPr/>
        </p:nvSpPr>
        <p:spPr>
          <a:xfrm>
            <a:off x="4411636" y="2914712"/>
            <a:ext cx="300648" cy="267133"/>
          </a:xfrm>
          <a:prstGeom prst="triangle">
            <a:avLst>
              <a:gd name="adj" fmla="val 4586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9D0F67-ADEF-8E44-A270-4B73DA6B18CF}"/>
              </a:ext>
            </a:extLst>
          </p:cNvPr>
          <p:cNvCxnSpPr>
            <a:stCxn id="20" idx="3"/>
            <a:endCxn id="11" idx="0"/>
          </p:cNvCxnSpPr>
          <p:nvPr/>
        </p:nvCxnSpPr>
        <p:spPr>
          <a:xfrm flipH="1">
            <a:off x="4549015" y="3181845"/>
            <a:ext cx="504" cy="11632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00BF51-09C8-1775-2E0D-12DFD4B7A00F}"/>
              </a:ext>
            </a:extLst>
          </p:cNvPr>
          <p:cNvSpPr txBox="1"/>
          <p:nvPr/>
        </p:nvSpPr>
        <p:spPr>
          <a:xfrm>
            <a:off x="4590304" y="3472958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&lt;implements&gt;</a:t>
            </a:r>
          </a:p>
        </p:txBody>
      </p:sp>
    </p:spTree>
    <p:extLst>
      <p:ext uri="{BB962C8B-B14F-4D97-AF65-F5344CB8AC3E}">
        <p14:creationId xmlns:p14="http://schemas.microsoft.com/office/powerpoint/2010/main" val="262719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7E8E7-C42C-B502-F3B6-2E80D11F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Solution</a:t>
            </a: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1B039CD4-EB81-BA85-25BD-92F64E588EC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78009"/>
              </p:ext>
            </p:extLst>
          </p:nvPr>
        </p:nvGraphicFramePr>
        <p:xfrm>
          <a:off x="2286000" y="1676400"/>
          <a:ext cx="4724400" cy="478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40930" imgH="5103682" progId="Visio.Drawing.6">
                  <p:embed/>
                </p:oleObj>
              </mc:Choice>
              <mc:Fallback>
                <p:oleObj name="Visio" r:id="rId2" imgW="5040930" imgH="5103682" progId="Visio.Drawing.6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1B039CD4-EB81-BA85-25BD-92F64E588E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76400"/>
                        <a:ext cx="4724400" cy="478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183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3085D-1C6E-940D-98B9-7C4533C2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Consequences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E36C90-D87E-EA75-CD01-FC24D3049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Objects can be parameterized with arbitrary actions</a:t>
            </a:r>
          </a:p>
          <a:p>
            <a:pPr eaLnBrk="1" hangingPunct="1"/>
            <a:endParaRPr lang="en-US" altLang="en-US" kern="0" dirty="0"/>
          </a:p>
          <a:p>
            <a:pPr eaLnBrk="1" hangingPunct="1"/>
            <a:r>
              <a:rPr lang="en-US" altLang="en-US" kern="0" dirty="0"/>
              <a:t>Completely decouples objects from the actions they execute</a:t>
            </a:r>
          </a:p>
          <a:p>
            <a:pPr lvl="1" eaLnBrk="1" hangingPunct="1"/>
            <a:r>
              <a:rPr lang="en-US" altLang="en-US" kern="0" dirty="0"/>
              <a:t>Application of “Dependency Inversion”</a:t>
            </a:r>
          </a:p>
          <a:p>
            <a:pPr eaLnBrk="1" hangingPunct="1"/>
            <a:endParaRPr lang="en-US" altLang="en-US" kern="0" dirty="0"/>
          </a:p>
          <a:p>
            <a:pPr eaLnBrk="1" hangingPunct="1"/>
            <a:r>
              <a:rPr lang="en-US" altLang="en-US" kern="0" dirty="0"/>
              <a:t>Adding new kinds of actions is easy</a:t>
            </a:r>
          </a:p>
          <a:p>
            <a:pPr lvl="1" eaLnBrk="1" hangingPunct="1"/>
            <a:r>
              <a:rPr lang="en-US" altLang="en-US" kern="0" dirty="0"/>
              <a:t>Just create a new class that implements the </a:t>
            </a:r>
            <a:r>
              <a:rPr lang="en-US" altLang="en-US" kern="0" dirty="0">
                <a:latin typeface="Courier New" panose="02070309020205020404" pitchFamily="49" charset="0"/>
              </a:rPr>
              <a:t>Command</a:t>
            </a:r>
            <a:r>
              <a:rPr lang="en-US" altLang="en-US" kern="0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2444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6" name="Rectangle 922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8" name="Rectangle 922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0" name="Rectangle 92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2" name="Rectangle 923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>
                <a:solidFill>
                  <a:srgbClr val="FFFFFF"/>
                </a:solidFill>
              </a:rPr>
              <a:t>Known Uses: Undo/Redo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066799" y="1981200"/>
            <a:ext cx="7293023" cy="368335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1700" dirty="0"/>
              <a:t>Store a list of actions performed by the user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Each action has</a:t>
            </a:r>
          </a:p>
          <a:p>
            <a:pPr lvl="1" eaLnBrk="1" hangingPunct="1"/>
            <a:r>
              <a:rPr lang="en-US" altLang="en-US" sz="1700" dirty="0"/>
              <a:t>A “do” method that knows how to perform the action</a:t>
            </a:r>
          </a:p>
          <a:p>
            <a:pPr lvl="1" eaLnBrk="1" hangingPunct="1"/>
            <a:r>
              <a:rPr lang="en-US" altLang="en-US" sz="1700" dirty="0"/>
              <a:t>An “undo” method that knows how to reverse the action</a:t>
            </a:r>
          </a:p>
          <a:p>
            <a:pPr lvl="1"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Store a pointer to the most recent action performed by the user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Undo – “undo” the current action and back up the pointer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Redo – move the pointer forward and “redo” the current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8" name="Rectangle 1024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2" name="Rectangle 1025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>
                <a:solidFill>
                  <a:srgbClr val="FFFFFF"/>
                </a:solidFill>
              </a:rPr>
              <a:t>Known Uses: Recording user actions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93168" y="1328207"/>
            <a:ext cx="7293023" cy="368335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1700" dirty="0"/>
              <a:t>Macros</a:t>
            </a:r>
          </a:p>
          <a:p>
            <a:pPr lvl="1" eaLnBrk="1" hangingPunct="1"/>
            <a:r>
              <a:rPr lang="en-US" altLang="en-US" sz="1700" dirty="0"/>
              <a:t>Record a sequence of user actions so they can be turned into a macro</a:t>
            </a:r>
          </a:p>
          <a:p>
            <a:pPr lvl="1" eaLnBrk="1" hangingPunct="1"/>
            <a:endParaRPr lang="en-US" altLang="en-US" sz="1700" dirty="0"/>
          </a:p>
          <a:p>
            <a:pPr lvl="1" eaLnBrk="1" hangingPunct="1"/>
            <a:r>
              <a:rPr lang="en-US" altLang="en-US" sz="1700" dirty="0"/>
              <a:t>Macro can be re-executed on demand by the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4" name="Rectangle 1127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6" name="Rectangle 1127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8" name="Rectangle 1127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0" name="Rectangle 1127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>
                <a:solidFill>
                  <a:srgbClr val="FFFFFF"/>
                </a:solidFill>
              </a:rPr>
              <a:t>Known Uses: Multi-user network games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28699" y="1752600"/>
            <a:ext cx="7293023" cy="368335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1700" dirty="0"/>
              <a:t>Actions performed by a player must be broadcast to all other players and executed on their local machines</a:t>
            </a:r>
          </a:p>
          <a:p>
            <a:pPr eaLnBrk="1" hangingPunct="1">
              <a:buFontTx/>
              <a:buNone/>
            </a:pPr>
            <a:endParaRPr lang="en-US" altLang="en-US" sz="1700" dirty="0"/>
          </a:p>
          <a:p>
            <a:pPr eaLnBrk="1" hangingPunct="1"/>
            <a:r>
              <a:rPr lang="en-US" altLang="en-US" sz="1700" dirty="0"/>
              <a:t>How could we use the Command pattern to do this?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0"/>
            <a:ext cx="90678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VideoGame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constructor()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console.log("Initializing video game");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move(player: number,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Location):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console.log(`Player ${player} moved to ${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newLoc.toString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()}`);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jump(player: number):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console.log(`Player ${player} jumped`);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raiseShield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(player: number):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console.log(`Player ${player} raised their shield`);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swingSword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(player: number, angle: number, speed: number):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console.log(`Player ${player} swung their sword at angle ${angle} with speed ${speed}`);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Location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constructor(public x: number, public y: number)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(): string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`(${x}, ${y})`;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810753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3200" y="2057400"/>
            <a:ext cx="2743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Command interface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Command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execute(): void;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903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685800"/>
            <a:ext cx="6858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Specific command classes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constructor(private game: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VideoGame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player: number,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Location)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execute():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this.game.move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this.player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this.newLoc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JumpCommand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constructor(private game: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VideoGame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player: number)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execute():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this.game.jump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this.player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6783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685800"/>
            <a:ext cx="6858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RaiseShieldCommand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constructor(private game: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VideoGame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player: number)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execute():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this.game.raiseShield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this.player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SwingSwordCommand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constructor(private game: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VideoGame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player: number,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angle: number,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private speed: number)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execute():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this.game.swingSword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this.player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this.angle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this.speed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8582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295400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CommandTest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run(): void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let commands: Command[] = [];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commands.push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(3, new Location(75, 12)));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commands.push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JumpCommand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commands.push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RaiseShieldCommand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commands.push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SwingSwordCommand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(3, 45, 100));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commands.forEach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Command) =&gt;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cmd.execute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836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1718</TotalTime>
  <Words>803</Words>
  <Application>Microsoft Office PowerPoint</Application>
  <PresentationFormat>On-screen Show (4:3)</PresentationFormat>
  <Paragraphs>162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Courier New</vt:lpstr>
      <vt:lpstr>Times New Roman</vt:lpstr>
      <vt:lpstr>Default Design</vt:lpstr>
      <vt:lpstr>Visio</vt:lpstr>
      <vt:lpstr>Command Design Pattern</vt:lpstr>
      <vt:lpstr>Problem</vt:lpstr>
      <vt:lpstr>Example: Task Scheduling Service</vt:lpstr>
      <vt:lpstr>Command Objects</vt:lpstr>
      <vt:lpstr>Solution</vt:lpstr>
      <vt:lpstr>Consequences</vt:lpstr>
      <vt:lpstr>Known Uses: Undo/Redo</vt:lpstr>
      <vt:lpstr>Known Uses: Recording user actions</vt:lpstr>
      <vt:lpstr>Known Uses: Multi-user network games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kenro</dc:creator>
  <cp:lastModifiedBy>Ken Rodham</cp:lastModifiedBy>
  <cp:revision>457</cp:revision>
  <dcterms:created xsi:type="dcterms:W3CDTF">1601-01-01T00:00:00Z</dcterms:created>
  <dcterms:modified xsi:type="dcterms:W3CDTF">2025-11-19T18:03:02Z</dcterms:modified>
</cp:coreProperties>
</file>