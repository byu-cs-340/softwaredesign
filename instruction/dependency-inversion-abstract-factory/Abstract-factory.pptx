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7" r:id="rId10"/>
    <p:sldId id="273" r:id="rId11"/>
    <p:sldId id="274" r:id="rId12"/>
    <p:sldId id="275" r:id="rId13"/>
    <p:sldId id="286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8"/>
    <p:restoredTop sz="94617"/>
  </p:normalViewPr>
  <p:slideViewPr>
    <p:cSldViewPr snapToGrid="0" snapToObjects="1">
      <p:cViewPr varScale="1">
        <p:scale>
          <a:sx n="145" d="100"/>
          <a:sy n="145" d="100"/>
        </p:scale>
        <p:origin x="13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FAEF3-F28B-EB46-9E81-1432232A2522}" type="datetimeFigureOut">
              <a:rPr lang="en-US" smtClean="0"/>
              <a:t>6/1/2021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8788C-E0E4-B144-9353-59D7B9131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9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C370-D407-2945-96A9-688699221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36E60-35A7-E449-B13E-6BBADDDB6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E13CB-968E-1647-8A61-DB2ADCA1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E2C9-2876-7343-BAFE-41C7650452B6}" type="datetime1">
              <a:rPr lang="en-US" smtClean="0"/>
              <a:t>6/1/2021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6708D-7C55-F44C-9D6D-7B32DEF9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799A7-7DC8-5249-8879-B8A2A48E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6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DB7B-4EEB-1B4A-B269-69612FCB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1AD07-A466-2C48-8894-CA4F0126E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36954-2AF2-704E-B06D-7693E7FC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4B03-1EAB-5B4C-A384-14AE9E27E457}" type="datetime1">
              <a:rPr lang="en-US" smtClean="0"/>
              <a:t>6/1/2021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7B233-0302-7448-B8E2-2122772D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3FABF-81E0-CC48-B3A1-FCF0BA8C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6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6C13-B75B-934C-BC5D-460E4EE42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5DBC3-37E5-2E40-8AA5-523B20E16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35AAC-ABE4-C34D-9709-D39FB010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CE46-3C9F-EC4E-9E40-6337F071FB22}" type="datetime1">
              <a:rPr lang="en-US" smtClean="0"/>
              <a:t>6/1/2021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F9D1E-7ABA-7044-9555-8663385E6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0739-DF1A-BC42-951A-65CB4503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7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4186-2C22-A547-A6D6-FC6C1F22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C8C87-980F-BB44-92E7-7D75CE0E1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95CE2-7FC8-3445-8A1C-E8C96BCDE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E9524-1900-9648-AE56-C3384F18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2D5C-72EB-EF4A-948D-2C0AB7ABE7AF}" type="datetime1">
              <a:rPr lang="en-US" smtClean="0"/>
              <a:t>6/1/2021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81464-1ABB-624E-AB55-B8B03E09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C5A68-D71D-064B-9228-445938CC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4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C723-0F6A-C34F-AADA-847EC636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789A3-B610-5A46-A308-BFBB39F5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EBD24-BC79-424B-9CCF-D5CAA8066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039EC-1378-B44E-8F4E-3EA44DA05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FBADD-A4C9-1C40-9986-007107CF7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9A07B4-8555-7248-87A5-8372DEED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F873B-1496-1343-87D2-4B6F5E636C3B}" type="datetime1">
              <a:rPr lang="en-US" smtClean="0"/>
              <a:t>6/1/2021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D215B-83C6-2E4B-A2C2-79AE71E0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0154A-4B95-6146-A2ED-C8671BCF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6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1E70-9A46-5345-8F2F-3212C53F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6F2E9-E495-2147-961E-1E296C9F8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48EB-40E7-8746-8287-F6882CB7C999}" type="datetime1">
              <a:rPr lang="en-US" smtClean="0"/>
              <a:t>6/1/2021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13432-C69E-AF43-83D1-6DC49FBB1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60814-44F6-CB41-A35E-68944927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21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533BC-FE0F-D04D-8B6D-041604FF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F2080-90DC-3F4D-B4EB-BD17975CEF10}" type="datetime1">
              <a:rPr lang="en-US" smtClean="0"/>
              <a:t>6/1/2021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9D802-935E-9D41-AAD4-ED71F4F1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255A-1421-CF44-9E13-07FEAEDB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0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F4DF-8340-1247-92C0-511164E0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3411B-8B23-D04E-A5CA-861FF6CB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9E6ED-789E-7B47-965F-0E4DE859D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915F1-57F7-444C-9297-6A7A1A23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F9C-D66E-B440-82C2-8495A9E09D21}" type="datetime1">
              <a:rPr lang="en-US" smtClean="0"/>
              <a:t>6/1/2021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13BA2-7B8C-C94C-A559-67524213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0BFF-0470-6C47-AA8C-CB3CD2B2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3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CE27-63D1-FA4D-941E-82372BFB9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6B98B-66B7-7447-835F-42C2A0A94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38A8F-C053-8943-8A8C-3DC9EF3CE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3FE92-A98F-A04E-8BE2-7E027EBC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476E2-933F-3143-AED6-AF6ECD2A0F90}" type="datetime1">
              <a:rPr lang="en-US" smtClean="0"/>
              <a:t>6/1/2021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E1B05-6FB2-7649-A4C5-404CC371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3FAFB-C70E-D547-AF2C-1FE96F04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1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AEA6-E56C-9048-8BBA-3FA3CA005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06318-F3DB-4B4E-91BD-72C5EB3A7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10CDF-9775-B54A-A1C7-CA2B0277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15C3-7DF8-A64C-87E8-A5C4CFC9482A}" type="datetime1">
              <a:rPr lang="en-US" smtClean="0"/>
              <a:t>6/1/2021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0959D-825C-DE44-90A3-5A5D79CC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68FEF-9CE8-3243-872B-7C0F70D2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9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DBB04-E5B2-B543-9076-E50D65462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030F-8173-B142-BE1D-E38759E38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57B5B-F27D-B549-89AD-E9E76BD3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C862-2876-2347-A72B-F9C9B40515A9}" type="datetime1">
              <a:rPr lang="en-US" smtClean="0"/>
              <a:t>6/1/2021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C12B7-68B2-444E-8199-33DC9E79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6F35-1484-FD4C-823D-5929561F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5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646E0-5CD7-5E44-AC53-5ECC0B1C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CFEB-C73A-314B-BD70-947022CAA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329E4-D07A-7741-807D-AEFD5010F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E48A6-61C5-5944-A5FE-D6C50304BB6B}" type="datetime1">
              <a:rPr lang="en-US" smtClean="0"/>
              <a:t>6/1/2021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58974-0306-974F-A89F-A4BF7EC73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3EBFD-B1C5-2445-98AD-A7B4D3492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A0A07-35EF-C840-954D-F5A9F6C8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1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B751-B24C-A148-B3DE-A01FB5EF9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Designing for Testability</a:t>
            </a:r>
            <a:br>
              <a:rPr lang="en-US" dirty="0" smtClean="0"/>
            </a:br>
            <a:r>
              <a:rPr lang="en-US" dirty="0" smtClean="0"/>
              <a:t>*Abstract Factory*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AAAB5-B157-2247-B32D-DACC965AB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6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88701" y="177007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Testing with “fake” dependencies</a:t>
            </a:r>
            <a:endParaRPr lang="en-US" sz="3600" dirty="0"/>
          </a:p>
        </p:txBody>
      </p:sp>
      <p:grpSp>
        <p:nvGrpSpPr>
          <p:cNvPr id="6147" name="Group 5"/>
          <p:cNvGrpSpPr>
            <a:grpSpLocks noChangeAspect="1"/>
          </p:cNvGrpSpPr>
          <p:nvPr/>
        </p:nvGrpSpPr>
        <p:grpSpPr bwMode="auto">
          <a:xfrm>
            <a:off x="3048001" y="1524001"/>
            <a:ext cx="6088064" cy="4811713"/>
            <a:chOff x="960" y="960"/>
            <a:chExt cx="3835" cy="3031"/>
          </a:xfrm>
        </p:grpSpPr>
        <p:sp>
          <p:nvSpPr>
            <p:cNvPr id="6148" name="AutoShape 4"/>
            <p:cNvSpPr>
              <a:spLocks noChangeAspect="1" noChangeArrowheads="1" noTextEdit="1"/>
            </p:cNvSpPr>
            <p:nvPr/>
          </p:nvSpPr>
          <p:spPr bwMode="auto">
            <a:xfrm>
              <a:off x="960" y="960"/>
              <a:ext cx="3835" cy="30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49" name="Rectangle 6"/>
            <p:cNvSpPr>
              <a:spLocks noChangeArrowheads="1"/>
            </p:cNvSpPr>
            <p:nvPr/>
          </p:nvSpPr>
          <p:spPr bwMode="auto">
            <a:xfrm>
              <a:off x="2475" y="1134"/>
              <a:ext cx="804" cy="537"/>
            </a:xfrm>
            <a:prstGeom prst="rect">
              <a:avLst/>
            </a:prstGeom>
            <a:solidFill>
              <a:srgbClr val="CDCDCD"/>
            </a:solid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0" name="Rectangle 7"/>
            <p:cNvSpPr>
              <a:spLocks noChangeArrowheads="1"/>
            </p:cNvSpPr>
            <p:nvPr/>
          </p:nvSpPr>
          <p:spPr bwMode="auto">
            <a:xfrm>
              <a:off x="2653" y="1188"/>
              <a:ext cx="475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Test</a:t>
              </a:r>
            </a:p>
            <a:p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Driver</a:t>
              </a:r>
              <a:endParaRPr lang="en-US" dirty="0"/>
            </a:p>
          </p:txBody>
        </p:sp>
        <p:sp>
          <p:nvSpPr>
            <p:cNvPr id="6151" name="Rectangle 8"/>
            <p:cNvSpPr>
              <a:spLocks noChangeArrowheads="1"/>
            </p:cNvSpPr>
            <p:nvPr/>
          </p:nvSpPr>
          <p:spPr bwMode="auto">
            <a:xfrm>
              <a:off x="2475" y="3414"/>
              <a:ext cx="804" cy="536"/>
            </a:xfrm>
            <a:prstGeom prst="rect">
              <a:avLst/>
            </a:prstGeom>
            <a:solidFill>
              <a:srgbClr val="CDCDCD"/>
            </a:solid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2" name="Rectangle 9"/>
            <p:cNvSpPr>
              <a:spLocks noChangeArrowheads="1"/>
            </p:cNvSpPr>
            <p:nvPr/>
          </p:nvSpPr>
          <p:spPr bwMode="auto">
            <a:xfrm>
              <a:off x="2503" y="3595"/>
              <a:ext cx="77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dirty="0" err="1" smtClean="0">
                  <a:solidFill>
                    <a:srgbClr val="000000"/>
                  </a:solidFill>
                  <a:latin typeface="Arial" charset="0"/>
                </a:rPr>
                <a:t>PersonDAO</a:t>
              </a:r>
              <a:endParaRPr lang="en-US" dirty="0"/>
            </a:p>
          </p:txBody>
        </p:sp>
        <p:sp>
          <p:nvSpPr>
            <p:cNvPr id="6153" name="Rectangle 10"/>
            <p:cNvSpPr>
              <a:spLocks noChangeArrowheads="1"/>
            </p:cNvSpPr>
            <p:nvPr/>
          </p:nvSpPr>
          <p:spPr bwMode="auto">
            <a:xfrm>
              <a:off x="1402" y="3280"/>
              <a:ext cx="805" cy="536"/>
            </a:xfrm>
            <a:prstGeom prst="rect">
              <a:avLst/>
            </a:prstGeom>
            <a:solidFill>
              <a:srgbClr val="CDCDCD"/>
            </a:solid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4" name="Rectangle 11"/>
            <p:cNvSpPr>
              <a:spLocks noChangeArrowheads="1"/>
            </p:cNvSpPr>
            <p:nvPr/>
          </p:nvSpPr>
          <p:spPr bwMode="auto">
            <a:xfrm>
              <a:off x="1508" y="3464"/>
              <a:ext cx="622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dirty="0" err="1" smtClean="0">
                  <a:solidFill>
                    <a:srgbClr val="000000"/>
                  </a:solidFill>
                  <a:latin typeface="Arial" charset="0"/>
                </a:rPr>
                <a:t>UserDAO</a:t>
              </a:r>
              <a:endParaRPr lang="en-US" dirty="0"/>
            </a:p>
          </p:txBody>
        </p:sp>
        <p:sp>
          <p:nvSpPr>
            <p:cNvPr id="6155" name="Rectangle 12"/>
            <p:cNvSpPr>
              <a:spLocks noChangeArrowheads="1"/>
            </p:cNvSpPr>
            <p:nvPr/>
          </p:nvSpPr>
          <p:spPr bwMode="auto">
            <a:xfrm>
              <a:off x="3547" y="3280"/>
              <a:ext cx="805" cy="536"/>
            </a:xfrm>
            <a:prstGeom prst="rect">
              <a:avLst/>
            </a:prstGeom>
            <a:solidFill>
              <a:srgbClr val="CDCDCD"/>
            </a:solid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6" name="Rectangle 13"/>
            <p:cNvSpPr>
              <a:spLocks noChangeArrowheads="1"/>
            </p:cNvSpPr>
            <p:nvPr/>
          </p:nvSpPr>
          <p:spPr bwMode="auto">
            <a:xfrm>
              <a:off x="3613" y="3464"/>
              <a:ext cx="68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dirty="0" err="1" smtClean="0">
                  <a:solidFill>
                    <a:srgbClr val="000000"/>
                  </a:solidFill>
                  <a:latin typeface="Arial" charset="0"/>
                </a:rPr>
                <a:t>EventDAO</a:t>
              </a:r>
              <a:endParaRPr lang="en-US" dirty="0"/>
            </a:p>
          </p:txBody>
        </p:sp>
        <p:sp>
          <p:nvSpPr>
            <p:cNvPr id="6157" name="Freeform 14"/>
            <p:cNvSpPr>
              <a:spLocks/>
            </p:cNvSpPr>
            <p:nvPr/>
          </p:nvSpPr>
          <p:spPr bwMode="auto">
            <a:xfrm>
              <a:off x="2442" y="2007"/>
              <a:ext cx="871" cy="870"/>
            </a:xfrm>
            <a:custGeom>
              <a:avLst/>
              <a:gdLst>
                <a:gd name="T0" fmla="*/ 1 w 1742"/>
                <a:gd name="T1" fmla="*/ 99 h 1742"/>
                <a:gd name="T2" fmla="*/ 3 w 1742"/>
                <a:gd name="T3" fmla="*/ 79 h 1742"/>
                <a:gd name="T4" fmla="*/ 11 w 1742"/>
                <a:gd name="T5" fmla="*/ 61 h 1742"/>
                <a:gd name="T6" fmla="*/ 21 w 1742"/>
                <a:gd name="T7" fmla="*/ 44 h 1742"/>
                <a:gd name="T8" fmla="*/ 34 w 1742"/>
                <a:gd name="T9" fmla="*/ 30 h 1742"/>
                <a:gd name="T10" fmla="*/ 49 w 1742"/>
                <a:gd name="T11" fmla="*/ 17 h 1742"/>
                <a:gd name="T12" fmla="*/ 67 w 1742"/>
                <a:gd name="T13" fmla="*/ 8 h 1742"/>
                <a:gd name="T14" fmla="*/ 85 w 1742"/>
                <a:gd name="T15" fmla="*/ 2 h 1742"/>
                <a:gd name="T16" fmla="*/ 105 w 1742"/>
                <a:gd name="T17" fmla="*/ 0 h 1742"/>
                <a:gd name="T18" fmla="*/ 123 w 1742"/>
                <a:gd name="T19" fmla="*/ 1 h 1742"/>
                <a:gd name="T20" fmla="*/ 143 w 1742"/>
                <a:gd name="T21" fmla="*/ 5 h 1742"/>
                <a:gd name="T22" fmla="*/ 161 w 1742"/>
                <a:gd name="T23" fmla="*/ 13 h 1742"/>
                <a:gd name="T24" fmla="*/ 177 w 1742"/>
                <a:gd name="T25" fmla="*/ 23 h 1742"/>
                <a:gd name="T26" fmla="*/ 191 w 1742"/>
                <a:gd name="T27" fmla="*/ 37 h 1742"/>
                <a:gd name="T28" fmla="*/ 203 w 1742"/>
                <a:gd name="T29" fmla="*/ 53 h 1742"/>
                <a:gd name="T30" fmla="*/ 211 w 1742"/>
                <a:gd name="T31" fmla="*/ 70 h 1742"/>
                <a:gd name="T32" fmla="*/ 216 w 1742"/>
                <a:gd name="T33" fmla="*/ 89 h 1742"/>
                <a:gd name="T34" fmla="*/ 218 w 1742"/>
                <a:gd name="T35" fmla="*/ 108 h 1742"/>
                <a:gd name="T36" fmla="*/ 216 w 1742"/>
                <a:gd name="T37" fmla="*/ 128 h 1742"/>
                <a:gd name="T38" fmla="*/ 211 w 1742"/>
                <a:gd name="T39" fmla="*/ 147 h 1742"/>
                <a:gd name="T40" fmla="*/ 203 w 1742"/>
                <a:gd name="T41" fmla="*/ 164 h 1742"/>
                <a:gd name="T42" fmla="*/ 191 w 1742"/>
                <a:gd name="T43" fmla="*/ 180 h 1742"/>
                <a:gd name="T44" fmla="*/ 177 w 1742"/>
                <a:gd name="T45" fmla="*/ 193 h 1742"/>
                <a:gd name="T46" fmla="*/ 161 w 1742"/>
                <a:gd name="T47" fmla="*/ 204 h 1742"/>
                <a:gd name="T48" fmla="*/ 143 w 1742"/>
                <a:gd name="T49" fmla="*/ 212 h 1742"/>
                <a:gd name="T50" fmla="*/ 123 w 1742"/>
                <a:gd name="T51" fmla="*/ 216 h 1742"/>
                <a:gd name="T52" fmla="*/ 105 w 1742"/>
                <a:gd name="T53" fmla="*/ 217 h 1742"/>
                <a:gd name="T54" fmla="*/ 85 w 1742"/>
                <a:gd name="T55" fmla="*/ 214 h 1742"/>
                <a:gd name="T56" fmla="*/ 67 w 1742"/>
                <a:gd name="T57" fmla="*/ 208 h 1742"/>
                <a:gd name="T58" fmla="*/ 49 w 1742"/>
                <a:gd name="T59" fmla="*/ 199 h 1742"/>
                <a:gd name="T60" fmla="*/ 34 w 1742"/>
                <a:gd name="T61" fmla="*/ 187 h 1742"/>
                <a:gd name="T62" fmla="*/ 21 w 1742"/>
                <a:gd name="T63" fmla="*/ 172 h 1742"/>
                <a:gd name="T64" fmla="*/ 11 w 1742"/>
                <a:gd name="T65" fmla="*/ 155 h 1742"/>
                <a:gd name="T66" fmla="*/ 3 w 1742"/>
                <a:gd name="T67" fmla="*/ 137 h 1742"/>
                <a:gd name="T68" fmla="*/ 1 w 1742"/>
                <a:gd name="T69" fmla="*/ 118 h 174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42"/>
                <a:gd name="T106" fmla="*/ 0 h 1742"/>
                <a:gd name="T107" fmla="*/ 1742 w 1742"/>
                <a:gd name="T108" fmla="*/ 1742 h 174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42" h="1742">
                  <a:moveTo>
                    <a:pt x="0" y="871"/>
                  </a:moveTo>
                  <a:lnTo>
                    <a:pt x="3" y="792"/>
                  </a:lnTo>
                  <a:lnTo>
                    <a:pt x="14" y="715"/>
                  </a:lnTo>
                  <a:lnTo>
                    <a:pt x="30" y="639"/>
                  </a:lnTo>
                  <a:lnTo>
                    <a:pt x="55" y="565"/>
                  </a:lnTo>
                  <a:lnTo>
                    <a:pt x="85" y="492"/>
                  </a:lnTo>
                  <a:lnTo>
                    <a:pt x="123" y="424"/>
                  </a:lnTo>
                  <a:lnTo>
                    <a:pt x="166" y="358"/>
                  </a:lnTo>
                  <a:lnTo>
                    <a:pt x="214" y="297"/>
                  </a:lnTo>
                  <a:lnTo>
                    <a:pt x="268" y="242"/>
                  </a:lnTo>
                  <a:lnTo>
                    <a:pt x="327" y="190"/>
                  </a:lnTo>
                  <a:lnTo>
                    <a:pt x="391" y="143"/>
                  </a:lnTo>
                  <a:lnTo>
                    <a:pt x="457" y="104"/>
                  </a:lnTo>
                  <a:lnTo>
                    <a:pt x="529" y="70"/>
                  </a:lnTo>
                  <a:lnTo>
                    <a:pt x="602" y="41"/>
                  </a:lnTo>
                  <a:lnTo>
                    <a:pt x="677" y="22"/>
                  </a:lnTo>
                  <a:lnTo>
                    <a:pt x="754" y="8"/>
                  </a:lnTo>
                  <a:lnTo>
                    <a:pt x="833" y="0"/>
                  </a:lnTo>
                  <a:lnTo>
                    <a:pt x="909" y="0"/>
                  </a:lnTo>
                  <a:lnTo>
                    <a:pt x="988" y="8"/>
                  </a:lnTo>
                  <a:lnTo>
                    <a:pt x="1065" y="22"/>
                  </a:lnTo>
                  <a:lnTo>
                    <a:pt x="1140" y="41"/>
                  </a:lnTo>
                  <a:lnTo>
                    <a:pt x="1213" y="70"/>
                  </a:lnTo>
                  <a:lnTo>
                    <a:pt x="1283" y="104"/>
                  </a:lnTo>
                  <a:lnTo>
                    <a:pt x="1351" y="143"/>
                  </a:lnTo>
                  <a:lnTo>
                    <a:pt x="1413" y="190"/>
                  </a:lnTo>
                  <a:lnTo>
                    <a:pt x="1472" y="242"/>
                  </a:lnTo>
                  <a:lnTo>
                    <a:pt x="1526" y="297"/>
                  </a:lnTo>
                  <a:lnTo>
                    <a:pt x="1576" y="358"/>
                  </a:lnTo>
                  <a:lnTo>
                    <a:pt x="1619" y="424"/>
                  </a:lnTo>
                  <a:lnTo>
                    <a:pt x="1657" y="492"/>
                  </a:lnTo>
                  <a:lnTo>
                    <a:pt x="1687" y="565"/>
                  </a:lnTo>
                  <a:lnTo>
                    <a:pt x="1710" y="639"/>
                  </a:lnTo>
                  <a:lnTo>
                    <a:pt x="1728" y="715"/>
                  </a:lnTo>
                  <a:lnTo>
                    <a:pt x="1739" y="792"/>
                  </a:lnTo>
                  <a:lnTo>
                    <a:pt x="1742" y="871"/>
                  </a:lnTo>
                  <a:lnTo>
                    <a:pt x="1739" y="950"/>
                  </a:lnTo>
                  <a:lnTo>
                    <a:pt x="1728" y="1026"/>
                  </a:lnTo>
                  <a:lnTo>
                    <a:pt x="1710" y="1103"/>
                  </a:lnTo>
                  <a:lnTo>
                    <a:pt x="1687" y="1177"/>
                  </a:lnTo>
                  <a:lnTo>
                    <a:pt x="1657" y="1248"/>
                  </a:lnTo>
                  <a:lnTo>
                    <a:pt x="1619" y="1318"/>
                  </a:lnTo>
                  <a:lnTo>
                    <a:pt x="1576" y="1382"/>
                  </a:lnTo>
                  <a:lnTo>
                    <a:pt x="1526" y="1445"/>
                  </a:lnTo>
                  <a:lnTo>
                    <a:pt x="1472" y="1500"/>
                  </a:lnTo>
                  <a:lnTo>
                    <a:pt x="1413" y="1552"/>
                  </a:lnTo>
                  <a:lnTo>
                    <a:pt x="1351" y="1599"/>
                  </a:lnTo>
                  <a:lnTo>
                    <a:pt x="1283" y="1638"/>
                  </a:lnTo>
                  <a:lnTo>
                    <a:pt x="1213" y="1672"/>
                  </a:lnTo>
                  <a:lnTo>
                    <a:pt x="1140" y="1700"/>
                  </a:lnTo>
                  <a:lnTo>
                    <a:pt x="1065" y="1720"/>
                  </a:lnTo>
                  <a:lnTo>
                    <a:pt x="988" y="1734"/>
                  </a:lnTo>
                  <a:lnTo>
                    <a:pt x="909" y="1742"/>
                  </a:lnTo>
                  <a:lnTo>
                    <a:pt x="833" y="1742"/>
                  </a:lnTo>
                  <a:lnTo>
                    <a:pt x="754" y="1734"/>
                  </a:lnTo>
                  <a:lnTo>
                    <a:pt x="677" y="1720"/>
                  </a:lnTo>
                  <a:lnTo>
                    <a:pt x="602" y="1700"/>
                  </a:lnTo>
                  <a:lnTo>
                    <a:pt x="529" y="1672"/>
                  </a:lnTo>
                  <a:lnTo>
                    <a:pt x="457" y="1638"/>
                  </a:lnTo>
                  <a:lnTo>
                    <a:pt x="391" y="1599"/>
                  </a:lnTo>
                  <a:lnTo>
                    <a:pt x="327" y="1552"/>
                  </a:lnTo>
                  <a:lnTo>
                    <a:pt x="268" y="1500"/>
                  </a:lnTo>
                  <a:lnTo>
                    <a:pt x="214" y="1445"/>
                  </a:lnTo>
                  <a:lnTo>
                    <a:pt x="166" y="1382"/>
                  </a:lnTo>
                  <a:lnTo>
                    <a:pt x="123" y="1318"/>
                  </a:lnTo>
                  <a:lnTo>
                    <a:pt x="85" y="1248"/>
                  </a:lnTo>
                  <a:lnTo>
                    <a:pt x="55" y="1177"/>
                  </a:lnTo>
                  <a:lnTo>
                    <a:pt x="30" y="1103"/>
                  </a:lnTo>
                  <a:lnTo>
                    <a:pt x="14" y="1026"/>
                  </a:lnTo>
                  <a:lnTo>
                    <a:pt x="3" y="950"/>
                  </a:lnTo>
                  <a:lnTo>
                    <a:pt x="0" y="871"/>
                  </a:lnTo>
                  <a:close/>
                </a:path>
              </a:pathLst>
            </a:custGeom>
            <a:solidFill>
              <a:srgbClr val="FFC000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Rectangle 15"/>
            <p:cNvSpPr>
              <a:spLocks noChangeArrowheads="1"/>
            </p:cNvSpPr>
            <p:nvPr/>
          </p:nvSpPr>
          <p:spPr bwMode="auto">
            <a:xfrm>
              <a:off x="2677" y="2145"/>
              <a:ext cx="460" cy="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dirty="0" smtClean="0">
                  <a:solidFill>
                    <a:srgbClr val="000000"/>
                  </a:solidFill>
                  <a:latin typeface="Arial" charset="0"/>
                </a:rPr>
                <a:t>Class</a:t>
              </a:r>
            </a:p>
            <a:p>
              <a:r>
                <a:rPr lang="en-US" sz="2100" dirty="0" smtClean="0">
                  <a:solidFill>
                    <a:srgbClr val="000000"/>
                  </a:solidFill>
                  <a:latin typeface="Arial" charset="0"/>
                </a:rPr>
                <a:t>Under</a:t>
              </a:r>
            </a:p>
            <a:p>
              <a:r>
                <a:rPr lang="en-US" sz="2100" dirty="0" smtClean="0">
                  <a:solidFill>
                    <a:srgbClr val="000000"/>
                  </a:solidFill>
                  <a:latin typeface="Arial" charset="0"/>
                </a:rPr>
                <a:t>Test</a:t>
              </a:r>
              <a:endParaRPr lang="en-US" dirty="0"/>
            </a:p>
          </p:txBody>
        </p:sp>
        <p:sp>
          <p:nvSpPr>
            <p:cNvPr id="6160" name="Line 17"/>
            <p:cNvSpPr>
              <a:spLocks noChangeShapeType="1"/>
            </p:cNvSpPr>
            <p:nvPr/>
          </p:nvSpPr>
          <p:spPr bwMode="auto">
            <a:xfrm>
              <a:off x="2877" y="1752"/>
              <a:ext cx="1" cy="173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1" name="Freeform 18"/>
            <p:cNvSpPr>
              <a:spLocks noEditPoints="1"/>
            </p:cNvSpPr>
            <p:nvPr/>
          </p:nvSpPr>
          <p:spPr bwMode="auto">
            <a:xfrm>
              <a:off x="2848" y="1671"/>
              <a:ext cx="59" cy="335"/>
            </a:xfrm>
            <a:custGeom>
              <a:avLst/>
              <a:gdLst>
                <a:gd name="T0" fmla="*/ 15 w 118"/>
                <a:gd name="T1" fmla="*/ 22 h 671"/>
                <a:gd name="T2" fmla="*/ 7 w 118"/>
                <a:gd name="T3" fmla="*/ 0 h 671"/>
                <a:gd name="T4" fmla="*/ 0 w 118"/>
                <a:gd name="T5" fmla="*/ 22 h 671"/>
                <a:gd name="T6" fmla="*/ 15 w 118"/>
                <a:gd name="T7" fmla="*/ 22 h 671"/>
                <a:gd name="T8" fmla="*/ 0 w 118"/>
                <a:gd name="T9" fmla="*/ 61 h 671"/>
                <a:gd name="T10" fmla="*/ 7 w 118"/>
                <a:gd name="T11" fmla="*/ 83 h 671"/>
                <a:gd name="T12" fmla="*/ 15 w 118"/>
                <a:gd name="T13" fmla="*/ 61 h 671"/>
                <a:gd name="T14" fmla="*/ 0 w 118"/>
                <a:gd name="T15" fmla="*/ 61 h 6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671"/>
                <a:gd name="T26" fmla="*/ 118 w 118"/>
                <a:gd name="T27" fmla="*/ 671 h 67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671">
                  <a:moveTo>
                    <a:pt x="118" y="177"/>
                  </a:moveTo>
                  <a:lnTo>
                    <a:pt x="59" y="0"/>
                  </a:lnTo>
                  <a:lnTo>
                    <a:pt x="0" y="177"/>
                  </a:lnTo>
                  <a:lnTo>
                    <a:pt x="118" y="177"/>
                  </a:lnTo>
                  <a:close/>
                  <a:moveTo>
                    <a:pt x="0" y="494"/>
                  </a:moveTo>
                  <a:lnTo>
                    <a:pt x="59" y="671"/>
                  </a:lnTo>
                  <a:lnTo>
                    <a:pt x="118" y="494"/>
                  </a:lnTo>
                  <a:lnTo>
                    <a:pt x="0" y="4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2" name="Line 19"/>
            <p:cNvSpPr>
              <a:spLocks noChangeShapeType="1"/>
            </p:cNvSpPr>
            <p:nvPr/>
          </p:nvSpPr>
          <p:spPr bwMode="auto">
            <a:xfrm>
              <a:off x="3278" y="2791"/>
              <a:ext cx="606" cy="44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Freeform 20"/>
            <p:cNvSpPr>
              <a:spLocks noEditPoints="1"/>
            </p:cNvSpPr>
            <p:nvPr/>
          </p:nvSpPr>
          <p:spPr bwMode="auto">
            <a:xfrm>
              <a:off x="3212" y="2743"/>
              <a:ext cx="738" cy="537"/>
            </a:xfrm>
            <a:custGeom>
              <a:avLst/>
              <a:gdLst>
                <a:gd name="T0" fmla="*/ 14 w 1475"/>
                <a:gd name="T1" fmla="*/ 19 h 1073"/>
                <a:gd name="T2" fmla="*/ 0 w 1475"/>
                <a:gd name="T3" fmla="*/ 0 h 1073"/>
                <a:gd name="T4" fmla="*/ 23 w 1475"/>
                <a:gd name="T5" fmla="*/ 8 h 1073"/>
                <a:gd name="T6" fmla="*/ 14 w 1475"/>
                <a:gd name="T7" fmla="*/ 19 h 1073"/>
                <a:gd name="T8" fmla="*/ 171 w 1475"/>
                <a:gd name="T9" fmla="*/ 116 h 1073"/>
                <a:gd name="T10" fmla="*/ 185 w 1475"/>
                <a:gd name="T11" fmla="*/ 135 h 1073"/>
                <a:gd name="T12" fmla="*/ 163 w 1475"/>
                <a:gd name="T13" fmla="*/ 128 h 1073"/>
                <a:gd name="T14" fmla="*/ 171 w 1475"/>
                <a:gd name="T15" fmla="*/ 116 h 10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75"/>
                <a:gd name="T25" fmla="*/ 0 h 1073"/>
                <a:gd name="T26" fmla="*/ 1475 w 1475"/>
                <a:gd name="T27" fmla="*/ 1073 h 107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75" h="1073">
                  <a:moveTo>
                    <a:pt x="109" y="152"/>
                  </a:moveTo>
                  <a:lnTo>
                    <a:pt x="0" y="0"/>
                  </a:lnTo>
                  <a:lnTo>
                    <a:pt x="179" y="58"/>
                  </a:lnTo>
                  <a:lnTo>
                    <a:pt x="109" y="152"/>
                  </a:lnTo>
                  <a:close/>
                  <a:moveTo>
                    <a:pt x="1368" y="921"/>
                  </a:moveTo>
                  <a:lnTo>
                    <a:pt x="1475" y="1073"/>
                  </a:lnTo>
                  <a:lnTo>
                    <a:pt x="1298" y="1018"/>
                  </a:lnTo>
                  <a:lnTo>
                    <a:pt x="1368" y="9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Line 21"/>
            <p:cNvSpPr>
              <a:spLocks noChangeShapeType="1"/>
            </p:cNvSpPr>
            <p:nvPr/>
          </p:nvSpPr>
          <p:spPr bwMode="auto">
            <a:xfrm>
              <a:off x="2877" y="2959"/>
              <a:ext cx="1" cy="374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Freeform 22"/>
            <p:cNvSpPr>
              <a:spLocks noEditPoints="1"/>
            </p:cNvSpPr>
            <p:nvPr/>
          </p:nvSpPr>
          <p:spPr bwMode="auto">
            <a:xfrm>
              <a:off x="2848" y="2877"/>
              <a:ext cx="59" cy="537"/>
            </a:xfrm>
            <a:custGeom>
              <a:avLst/>
              <a:gdLst>
                <a:gd name="T0" fmla="*/ 15 w 118"/>
                <a:gd name="T1" fmla="*/ 23 h 1072"/>
                <a:gd name="T2" fmla="*/ 7 w 118"/>
                <a:gd name="T3" fmla="*/ 0 h 1072"/>
                <a:gd name="T4" fmla="*/ 0 w 118"/>
                <a:gd name="T5" fmla="*/ 23 h 1072"/>
                <a:gd name="T6" fmla="*/ 15 w 118"/>
                <a:gd name="T7" fmla="*/ 23 h 1072"/>
                <a:gd name="T8" fmla="*/ 0 w 118"/>
                <a:gd name="T9" fmla="*/ 112 h 1072"/>
                <a:gd name="T10" fmla="*/ 7 w 118"/>
                <a:gd name="T11" fmla="*/ 135 h 1072"/>
                <a:gd name="T12" fmla="*/ 15 w 118"/>
                <a:gd name="T13" fmla="*/ 112 h 1072"/>
                <a:gd name="T14" fmla="*/ 0 w 118"/>
                <a:gd name="T15" fmla="*/ 112 h 10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1072"/>
                <a:gd name="T26" fmla="*/ 118 w 118"/>
                <a:gd name="T27" fmla="*/ 1072 h 10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1072">
                  <a:moveTo>
                    <a:pt x="118" y="177"/>
                  </a:moveTo>
                  <a:lnTo>
                    <a:pt x="59" y="0"/>
                  </a:lnTo>
                  <a:lnTo>
                    <a:pt x="0" y="177"/>
                  </a:lnTo>
                  <a:lnTo>
                    <a:pt x="118" y="177"/>
                  </a:lnTo>
                  <a:close/>
                  <a:moveTo>
                    <a:pt x="0" y="895"/>
                  </a:moveTo>
                  <a:lnTo>
                    <a:pt x="59" y="1072"/>
                  </a:lnTo>
                  <a:lnTo>
                    <a:pt x="118" y="895"/>
                  </a:lnTo>
                  <a:lnTo>
                    <a:pt x="0" y="8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Line 23"/>
            <p:cNvSpPr>
              <a:spLocks noChangeShapeType="1"/>
            </p:cNvSpPr>
            <p:nvPr/>
          </p:nvSpPr>
          <p:spPr bwMode="auto">
            <a:xfrm flipH="1">
              <a:off x="1871" y="2791"/>
              <a:ext cx="606" cy="44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Freeform 24"/>
            <p:cNvSpPr>
              <a:spLocks noEditPoints="1"/>
            </p:cNvSpPr>
            <p:nvPr/>
          </p:nvSpPr>
          <p:spPr bwMode="auto">
            <a:xfrm>
              <a:off x="1805" y="2743"/>
              <a:ext cx="737" cy="537"/>
            </a:xfrm>
            <a:custGeom>
              <a:avLst/>
              <a:gdLst>
                <a:gd name="T0" fmla="*/ 171 w 1475"/>
                <a:gd name="T1" fmla="*/ 19 h 1073"/>
                <a:gd name="T2" fmla="*/ 184 w 1475"/>
                <a:gd name="T3" fmla="*/ 0 h 1073"/>
                <a:gd name="T4" fmla="*/ 162 w 1475"/>
                <a:gd name="T5" fmla="*/ 8 h 1073"/>
                <a:gd name="T6" fmla="*/ 171 w 1475"/>
                <a:gd name="T7" fmla="*/ 19 h 1073"/>
                <a:gd name="T8" fmla="*/ 13 w 1475"/>
                <a:gd name="T9" fmla="*/ 116 h 1073"/>
                <a:gd name="T10" fmla="*/ 0 w 1475"/>
                <a:gd name="T11" fmla="*/ 135 h 1073"/>
                <a:gd name="T12" fmla="*/ 22 w 1475"/>
                <a:gd name="T13" fmla="*/ 128 h 1073"/>
                <a:gd name="T14" fmla="*/ 13 w 1475"/>
                <a:gd name="T15" fmla="*/ 116 h 10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75"/>
                <a:gd name="T25" fmla="*/ 0 h 1073"/>
                <a:gd name="T26" fmla="*/ 1475 w 1475"/>
                <a:gd name="T27" fmla="*/ 1073 h 107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75" h="1073">
                  <a:moveTo>
                    <a:pt x="1368" y="152"/>
                  </a:moveTo>
                  <a:lnTo>
                    <a:pt x="1475" y="0"/>
                  </a:lnTo>
                  <a:lnTo>
                    <a:pt x="1298" y="58"/>
                  </a:lnTo>
                  <a:lnTo>
                    <a:pt x="1368" y="152"/>
                  </a:lnTo>
                  <a:close/>
                  <a:moveTo>
                    <a:pt x="109" y="921"/>
                  </a:moveTo>
                  <a:lnTo>
                    <a:pt x="0" y="1073"/>
                  </a:lnTo>
                  <a:lnTo>
                    <a:pt x="179" y="1018"/>
                  </a:lnTo>
                  <a:lnTo>
                    <a:pt x="109" y="9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Rectangle 25"/>
            <p:cNvSpPr>
              <a:spLocks noChangeArrowheads="1"/>
            </p:cNvSpPr>
            <p:nvPr/>
          </p:nvSpPr>
          <p:spPr bwMode="auto">
            <a:xfrm>
              <a:off x="1000" y="1000"/>
              <a:ext cx="805" cy="537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Rectangle 26"/>
            <p:cNvSpPr>
              <a:spLocks noChangeArrowheads="1"/>
            </p:cNvSpPr>
            <p:nvPr/>
          </p:nvSpPr>
          <p:spPr bwMode="auto">
            <a:xfrm>
              <a:off x="1229" y="1055"/>
              <a:ext cx="32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Arial" charset="0"/>
                </a:rPr>
                <a:t>Test</a:t>
              </a:r>
              <a:endParaRPr lang="en-US"/>
            </a:p>
          </p:txBody>
        </p:sp>
        <p:sp>
          <p:nvSpPr>
            <p:cNvPr id="6170" name="Rectangle 27"/>
            <p:cNvSpPr>
              <a:spLocks noChangeArrowheads="1"/>
            </p:cNvSpPr>
            <p:nvPr/>
          </p:nvSpPr>
          <p:spPr bwMode="auto">
            <a:xfrm>
              <a:off x="1169" y="1269"/>
              <a:ext cx="50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dirty="0">
                  <a:solidFill>
                    <a:srgbClr val="000000"/>
                  </a:solidFill>
                  <a:latin typeface="Arial" charset="0"/>
                </a:rPr>
                <a:t>C</a:t>
              </a:r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ases</a:t>
              </a:r>
              <a:endParaRPr lang="en-US" dirty="0"/>
            </a:p>
          </p:txBody>
        </p:sp>
        <p:sp>
          <p:nvSpPr>
            <p:cNvPr id="6171" name="Rectangle 28"/>
            <p:cNvSpPr>
              <a:spLocks noChangeArrowheads="1"/>
            </p:cNvSpPr>
            <p:nvPr/>
          </p:nvSpPr>
          <p:spPr bwMode="auto">
            <a:xfrm>
              <a:off x="3950" y="1000"/>
              <a:ext cx="804" cy="537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Rectangle 29"/>
            <p:cNvSpPr>
              <a:spLocks noChangeArrowheads="1"/>
            </p:cNvSpPr>
            <p:nvPr/>
          </p:nvSpPr>
          <p:spPr bwMode="auto">
            <a:xfrm>
              <a:off x="4100" y="1062"/>
              <a:ext cx="534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Test</a:t>
              </a:r>
            </a:p>
            <a:p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Report</a:t>
              </a:r>
              <a:endParaRPr lang="en-US" dirty="0"/>
            </a:p>
          </p:txBody>
        </p:sp>
        <p:sp>
          <p:nvSpPr>
            <p:cNvPr id="6173" name="Line 30"/>
            <p:cNvSpPr>
              <a:spLocks noChangeShapeType="1"/>
            </p:cNvSpPr>
            <p:nvPr/>
          </p:nvSpPr>
          <p:spPr bwMode="auto">
            <a:xfrm>
              <a:off x="1805" y="1268"/>
              <a:ext cx="590" cy="119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4" name="Freeform 31"/>
            <p:cNvSpPr>
              <a:spLocks/>
            </p:cNvSpPr>
            <p:nvPr/>
          </p:nvSpPr>
          <p:spPr bwMode="auto">
            <a:xfrm>
              <a:off x="2383" y="1357"/>
              <a:ext cx="92" cy="57"/>
            </a:xfrm>
            <a:custGeom>
              <a:avLst/>
              <a:gdLst>
                <a:gd name="T0" fmla="*/ 3 w 184"/>
                <a:gd name="T1" fmla="*/ 0 h 114"/>
                <a:gd name="T2" fmla="*/ 23 w 184"/>
                <a:gd name="T3" fmla="*/ 12 h 114"/>
                <a:gd name="T4" fmla="*/ 0 w 184"/>
                <a:gd name="T5" fmla="*/ 14 h 114"/>
                <a:gd name="T6" fmla="*/ 3 w 184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"/>
                <a:gd name="T13" fmla="*/ 0 h 114"/>
                <a:gd name="T14" fmla="*/ 184 w 184"/>
                <a:gd name="T15" fmla="*/ 114 h 1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" h="114">
                  <a:moveTo>
                    <a:pt x="23" y="0"/>
                  </a:moveTo>
                  <a:lnTo>
                    <a:pt x="184" y="91"/>
                  </a:lnTo>
                  <a:lnTo>
                    <a:pt x="0" y="11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5" name="Line 32"/>
            <p:cNvSpPr>
              <a:spLocks noChangeShapeType="1"/>
            </p:cNvSpPr>
            <p:nvPr/>
          </p:nvSpPr>
          <p:spPr bwMode="auto">
            <a:xfrm flipV="1">
              <a:off x="3279" y="1284"/>
              <a:ext cx="591" cy="118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6" name="Freeform 33"/>
            <p:cNvSpPr>
              <a:spLocks/>
            </p:cNvSpPr>
            <p:nvPr/>
          </p:nvSpPr>
          <p:spPr bwMode="auto">
            <a:xfrm>
              <a:off x="3857" y="1257"/>
              <a:ext cx="93" cy="58"/>
            </a:xfrm>
            <a:custGeom>
              <a:avLst/>
              <a:gdLst>
                <a:gd name="T0" fmla="*/ 3 w 184"/>
                <a:gd name="T1" fmla="*/ 15 h 116"/>
                <a:gd name="T2" fmla="*/ 24 w 184"/>
                <a:gd name="T3" fmla="*/ 3 h 116"/>
                <a:gd name="T4" fmla="*/ 0 w 184"/>
                <a:gd name="T5" fmla="*/ 0 h 116"/>
                <a:gd name="T6" fmla="*/ 3 w 184"/>
                <a:gd name="T7" fmla="*/ 15 h 1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"/>
                <a:gd name="T13" fmla="*/ 0 h 116"/>
                <a:gd name="T14" fmla="*/ 184 w 184"/>
                <a:gd name="T15" fmla="*/ 116 h 1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" h="116">
                  <a:moveTo>
                    <a:pt x="23" y="116"/>
                  </a:moveTo>
                  <a:lnTo>
                    <a:pt x="184" y="23"/>
                  </a:lnTo>
                  <a:lnTo>
                    <a:pt x="0" y="0"/>
                  </a:lnTo>
                  <a:lnTo>
                    <a:pt x="23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228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88701" y="177007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Testing with “fake” dependencies</a:t>
            </a:r>
            <a:endParaRPr lang="en-US" sz="3600" dirty="0"/>
          </a:p>
        </p:txBody>
      </p:sp>
      <p:grpSp>
        <p:nvGrpSpPr>
          <p:cNvPr id="6147" name="Group 5"/>
          <p:cNvGrpSpPr>
            <a:grpSpLocks noChangeAspect="1"/>
          </p:cNvGrpSpPr>
          <p:nvPr/>
        </p:nvGrpSpPr>
        <p:grpSpPr bwMode="auto">
          <a:xfrm>
            <a:off x="3048001" y="1524001"/>
            <a:ext cx="6088064" cy="4811713"/>
            <a:chOff x="960" y="960"/>
            <a:chExt cx="3835" cy="3031"/>
          </a:xfrm>
        </p:grpSpPr>
        <p:sp>
          <p:nvSpPr>
            <p:cNvPr id="6148" name="AutoShape 4"/>
            <p:cNvSpPr>
              <a:spLocks noChangeAspect="1" noChangeArrowheads="1" noTextEdit="1"/>
            </p:cNvSpPr>
            <p:nvPr/>
          </p:nvSpPr>
          <p:spPr bwMode="auto">
            <a:xfrm>
              <a:off x="960" y="960"/>
              <a:ext cx="3835" cy="30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49" name="Rectangle 6"/>
            <p:cNvSpPr>
              <a:spLocks noChangeArrowheads="1"/>
            </p:cNvSpPr>
            <p:nvPr/>
          </p:nvSpPr>
          <p:spPr bwMode="auto">
            <a:xfrm>
              <a:off x="2475" y="1134"/>
              <a:ext cx="804" cy="537"/>
            </a:xfrm>
            <a:prstGeom prst="rect">
              <a:avLst/>
            </a:prstGeom>
            <a:solidFill>
              <a:srgbClr val="CDCDCD"/>
            </a:solid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0" name="Rectangle 7"/>
            <p:cNvSpPr>
              <a:spLocks noChangeArrowheads="1"/>
            </p:cNvSpPr>
            <p:nvPr/>
          </p:nvSpPr>
          <p:spPr bwMode="auto">
            <a:xfrm>
              <a:off x="2653" y="1188"/>
              <a:ext cx="475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Test</a:t>
              </a:r>
            </a:p>
            <a:p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Driver</a:t>
              </a:r>
              <a:endParaRPr lang="en-US" dirty="0"/>
            </a:p>
          </p:txBody>
        </p:sp>
        <p:sp>
          <p:nvSpPr>
            <p:cNvPr id="6151" name="Rectangle 8"/>
            <p:cNvSpPr>
              <a:spLocks noChangeArrowheads="1"/>
            </p:cNvSpPr>
            <p:nvPr/>
          </p:nvSpPr>
          <p:spPr bwMode="auto">
            <a:xfrm>
              <a:off x="2475" y="3414"/>
              <a:ext cx="804" cy="536"/>
            </a:xfrm>
            <a:prstGeom prst="rect">
              <a:avLst/>
            </a:prstGeom>
            <a:solidFill>
              <a:srgbClr val="CDCDCD"/>
            </a:solid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2" name="Rectangle 9"/>
            <p:cNvSpPr>
              <a:spLocks noChangeArrowheads="1"/>
            </p:cNvSpPr>
            <p:nvPr/>
          </p:nvSpPr>
          <p:spPr bwMode="auto">
            <a:xfrm>
              <a:off x="2503" y="3498"/>
              <a:ext cx="775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dirty="0" smtClean="0">
                  <a:solidFill>
                    <a:srgbClr val="000000"/>
                  </a:solidFill>
                  <a:latin typeface="Arial" charset="0"/>
                </a:rPr>
                <a:t>     Fake</a:t>
              </a:r>
            </a:p>
            <a:p>
              <a:r>
                <a:rPr lang="en-US" dirty="0" err="1" smtClean="0">
                  <a:solidFill>
                    <a:srgbClr val="000000"/>
                  </a:solidFill>
                  <a:latin typeface="Arial" charset="0"/>
                </a:rPr>
                <a:t>PersonDAO</a:t>
              </a:r>
              <a:endParaRPr lang="en-US" dirty="0"/>
            </a:p>
          </p:txBody>
        </p:sp>
        <p:sp>
          <p:nvSpPr>
            <p:cNvPr id="6153" name="Rectangle 10"/>
            <p:cNvSpPr>
              <a:spLocks noChangeArrowheads="1"/>
            </p:cNvSpPr>
            <p:nvPr/>
          </p:nvSpPr>
          <p:spPr bwMode="auto">
            <a:xfrm>
              <a:off x="1402" y="3280"/>
              <a:ext cx="805" cy="536"/>
            </a:xfrm>
            <a:prstGeom prst="rect">
              <a:avLst/>
            </a:prstGeom>
            <a:solidFill>
              <a:srgbClr val="CDCDCD"/>
            </a:solid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4" name="Rectangle 11"/>
            <p:cNvSpPr>
              <a:spLocks noChangeArrowheads="1"/>
            </p:cNvSpPr>
            <p:nvPr/>
          </p:nvSpPr>
          <p:spPr bwMode="auto">
            <a:xfrm>
              <a:off x="1478" y="3361"/>
              <a:ext cx="62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dirty="0" smtClean="0">
                  <a:solidFill>
                    <a:srgbClr val="000000"/>
                  </a:solidFill>
                  <a:latin typeface="Arial" charset="0"/>
                </a:rPr>
                <a:t>   Fake</a:t>
              </a:r>
            </a:p>
            <a:p>
              <a:r>
                <a:rPr lang="en-US" dirty="0" err="1" smtClean="0">
                  <a:solidFill>
                    <a:srgbClr val="000000"/>
                  </a:solidFill>
                  <a:latin typeface="Arial" charset="0"/>
                </a:rPr>
                <a:t>UserDAO</a:t>
              </a:r>
              <a:endParaRPr lang="en-US" dirty="0"/>
            </a:p>
          </p:txBody>
        </p:sp>
        <p:sp>
          <p:nvSpPr>
            <p:cNvPr id="6155" name="Rectangle 12"/>
            <p:cNvSpPr>
              <a:spLocks noChangeArrowheads="1"/>
            </p:cNvSpPr>
            <p:nvPr/>
          </p:nvSpPr>
          <p:spPr bwMode="auto">
            <a:xfrm>
              <a:off x="3547" y="3280"/>
              <a:ext cx="805" cy="536"/>
            </a:xfrm>
            <a:prstGeom prst="rect">
              <a:avLst/>
            </a:prstGeom>
            <a:solidFill>
              <a:srgbClr val="CDCDCD"/>
            </a:solid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6" name="Rectangle 13"/>
            <p:cNvSpPr>
              <a:spLocks noChangeArrowheads="1"/>
            </p:cNvSpPr>
            <p:nvPr/>
          </p:nvSpPr>
          <p:spPr bwMode="auto">
            <a:xfrm>
              <a:off x="3613" y="3373"/>
              <a:ext cx="687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dirty="0" smtClean="0">
                  <a:solidFill>
                    <a:srgbClr val="000000"/>
                  </a:solidFill>
                  <a:latin typeface="Arial" charset="0"/>
                </a:rPr>
                <a:t>    Fake</a:t>
              </a:r>
            </a:p>
            <a:p>
              <a:r>
                <a:rPr lang="en-US" dirty="0" err="1" smtClean="0">
                  <a:solidFill>
                    <a:srgbClr val="000000"/>
                  </a:solidFill>
                  <a:latin typeface="Arial" charset="0"/>
                </a:rPr>
                <a:t>EventDAO</a:t>
              </a:r>
              <a:endParaRPr lang="en-US" dirty="0"/>
            </a:p>
          </p:txBody>
        </p:sp>
        <p:sp>
          <p:nvSpPr>
            <p:cNvPr id="6157" name="Freeform 14"/>
            <p:cNvSpPr>
              <a:spLocks/>
            </p:cNvSpPr>
            <p:nvPr/>
          </p:nvSpPr>
          <p:spPr bwMode="auto">
            <a:xfrm>
              <a:off x="2442" y="2007"/>
              <a:ext cx="871" cy="870"/>
            </a:xfrm>
            <a:custGeom>
              <a:avLst/>
              <a:gdLst>
                <a:gd name="T0" fmla="*/ 1 w 1742"/>
                <a:gd name="T1" fmla="*/ 99 h 1742"/>
                <a:gd name="T2" fmla="*/ 3 w 1742"/>
                <a:gd name="T3" fmla="*/ 79 h 1742"/>
                <a:gd name="T4" fmla="*/ 11 w 1742"/>
                <a:gd name="T5" fmla="*/ 61 h 1742"/>
                <a:gd name="T6" fmla="*/ 21 w 1742"/>
                <a:gd name="T7" fmla="*/ 44 h 1742"/>
                <a:gd name="T8" fmla="*/ 34 w 1742"/>
                <a:gd name="T9" fmla="*/ 30 h 1742"/>
                <a:gd name="T10" fmla="*/ 49 w 1742"/>
                <a:gd name="T11" fmla="*/ 17 h 1742"/>
                <a:gd name="T12" fmla="*/ 67 w 1742"/>
                <a:gd name="T13" fmla="*/ 8 h 1742"/>
                <a:gd name="T14" fmla="*/ 85 w 1742"/>
                <a:gd name="T15" fmla="*/ 2 h 1742"/>
                <a:gd name="T16" fmla="*/ 105 w 1742"/>
                <a:gd name="T17" fmla="*/ 0 h 1742"/>
                <a:gd name="T18" fmla="*/ 123 w 1742"/>
                <a:gd name="T19" fmla="*/ 1 h 1742"/>
                <a:gd name="T20" fmla="*/ 143 w 1742"/>
                <a:gd name="T21" fmla="*/ 5 h 1742"/>
                <a:gd name="T22" fmla="*/ 161 w 1742"/>
                <a:gd name="T23" fmla="*/ 13 h 1742"/>
                <a:gd name="T24" fmla="*/ 177 w 1742"/>
                <a:gd name="T25" fmla="*/ 23 h 1742"/>
                <a:gd name="T26" fmla="*/ 191 w 1742"/>
                <a:gd name="T27" fmla="*/ 37 h 1742"/>
                <a:gd name="T28" fmla="*/ 203 w 1742"/>
                <a:gd name="T29" fmla="*/ 53 h 1742"/>
                <a:gd name="T30" fmla="*/ 211 w 1742"/>
                <a:gd name="T31" fmla="*/ 70 h 1742"/>
                <a:gd name="T32" fmla="*/ 216 w 1742"/>
                <a:gd name="T33" fmla="*/ 89 h 1742"/>
                <a:gd name="T34" fmla="*/ 218 w 1742"/>
                <a:gd name="T35" fmla="*/ 108 h 1742"/>
                <a:gd name="T36" fmla="*/ 216 w 1742"/>
                <a:gd name="T37" fmla="*/ 128 h 1742"/>
                <a:gd name="T38" fmla="*/ 211 w 1742"/>
                <a:gd name="T39" fmla="*/ 147 h 1742"/>
                <a:gd name="T40" fmla="*/ 203 w 1742"/>
                <a:gd name="T41" fmla="*/ 164 h 1742"/>
                <a:gd name="T42" fmla="*/ 191 w 1742"/>
                <a:gd name="T43" fmla="*/ 180 h 1742"/>
                <a:gd name="T44" fmla="*/ 177 w 1742"/>
                <a:gd name="T45" fmla="*/ 193 h 1742"/>
                <a:gd name="T46" fmla="*/ 161 w 1742"/>
                <a:gd name="T47" fmla="*/ 204 h 1742"/>
                <a:gd name="T48" fmla="*/ 143 w 1742"/>
                <a:gd name="T49" fmla="*/ 212 h 1742"/>
                <a:gd name="T50" fmla="*/ 123 w 1742"/>
                <a:gd name="T51" fmla="*/ 216 h 1742"/>
                <a:gd name="T52" fmla="*/ 105 w 1742"/>
                <a:gd name="T53" fmla="*/ 217 h 1742"/>
                <a:gd name="T54" fmla="*/ 85 w 1742"/>
                <a:gd name="T55" fmla="*/ 214 h 1742"/>
                <a:gd name="T56" fmla="*/ 67 w 1742"/>
                <a:gd name="T57" fmla="*/ 208 h 1742"/>
                <a:gd name="T58" fmla="*/ 49 w 1742"/>
                <a:gd name="T59" fmla="*/ 199 h 1742"/>
                <a:gd name="T60" fmla="*/ 34 w 1742"/>
                <a:gd name="T61" fmla="*/ 187 h 1742"/>
                <a:gd name="T62" fmla="*/ 21 w 1742"/>
                <a:gd name="T63" fmla="*/ 172 h 1742"/>
                <a:gd name="T64" fmla="*/ 11 w 1742"/>
                <a:gd name="T65" fmla="*/ 155 h 1742"/>
                <a:gd name="T66" fmla="*/ 3 w 1742"/>
                <a:gd name="T67" fmla="*/ 137 h 1742"/>
                <a:gd name="T68" fmla="*/ 1 w 1742"/>
                <a:gd name="T69" fmla="*/ 118 h 174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42"/>
                <a:gd name="T106" fmla="*/ 0 h 1742"/>
                <a:gd name="T107" fmla="*/ 1742 w 1742"/>
                <a:gd name="T108" fmla="*/ 1742 h 174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42" h="1742">
                  <a:moveTo>
                    <a:pt x="0" y="871"/>
                  </a:moveTo>
                  <a:lnTo>
                    <a:pt x="3" y="792"/>
                  </a:lnTo>
                  <a:lnTo>
                    <a:pt x="14" y="715"/>
                  </a:lnTo>
                  <a:lnTo>
                    <a:pt x="30" y="639"/>
                  </a:lnTo>
                  <a:lnTo>
                    <a:pt x="55" y="565"/>
                  </a:lnTo>
                  <a:lnTo>
                    <a:pt x="85" y="492"/>
                  </a:lnTo>
                  <a:lnTo>
                    <a:pt x="123" y="424"/>
                  </a:lnTo>
                  <a:lnTo>
                    <a:pt x="166" y="358"/>
                  </a:lnTo>
                  <a:lnTo>
                    <a:pt x="214" y="297"/>
                  </a:lnTo>
                  <a:lnTo>
                    <a:pt x="268" y="242"/>
                  </a:lnTo>
                  <a:lnTo>
                    <a:pt x="327" y="190"/>
                  </a:lnTo>
                  <a:lnTo>
                    <a:pt x="391" y="143"/>
                  </a:lnTo>
                  <a:lnTo>
                    <a:pt x="457" y="104"/>
                  </a:lnTo>
                  <a:lnTo>
                    <a:pt x="529" y="70"/>
                  </a:lnTo>
                  <a:lnTo>
                    <a:pt x="602" y="41"/>
                  </a:lnTo>
                  <a:lnTo>
                    <a:pt x="677" y="22"/>
                  </a:lnTo>
                  <a:lnTo>
                    <a:pt x="754" y="8"/>
                  </a:lnTo>
                  <a:lnTo>
                    <a:pt x="833" y="0"/>
                  </a:lnTo>
                  <a:lnTo>
                    <a:pt x="909" y="0"/>
                  </a:lnTo>
                  <a:lnTo>
                    <a:pt x="988" y="8"/>
                  </a:lnTo>
                  <a:lnTo>
                    <a:pt x="1065" y="22"/>
                  </a:lnTo>
                  <a:lnTo>
                    <a:pt x="1140" y="41"/>
                  </a:lnTo>
                  <a:lnTo>
                    <a:pt x="1213" y="70"/>
                  </a:lnTo>
                  <a:lnTo>
                    <a:pt x="1283" y="104"/>
                  </a:lnTo>
                  <a:lnTo>
                    <a:pt x="1351" y="143"/>
                  </a:lnTo>
                  <a:lnTo>
                    <a:pt x="1413" y="190"/>
                  </a:lnTo>
                  <a:lnTo>
                    <a:pt x="1472" y="242"/>
                  </a:lnTo>
                  <a:lnTo>
                    <a:pt x="1526" y="297"/>
                  </a:lnTo>
                  <a:lnTo>
                    <a:pt x="1576" y="358"/>
                  </a:lnTo>
                  <a:lnTo>
                    <a:pt x="1619" y="424"/>
                  </a:lnTo>
                  <a:lnTo>
                    <a:pt x="1657" y="492"/>
                  </a:lnTo>
                  <a:lnTo>
                    <a:pt x="1687" y="565"/>
                  </a:lnTo>
                  <a:lnTo>
                    <a:pt x="1710" y="639"/>
                  </a:lnTo>
                  <a:lnTo>
                    <a:pt x="1728" y="715"/>
                  </a:lnTo>
                  <a:lnTo>
                    <a:pt x="1739" y="792"/>
                  </a:lnTo>
                  <a:lnTo>
                    <a:pt x="1742" y="871"/>
                  </a:lnTo>
                  <a:lnTo>
                    <a:pt x="1739" y="950"/>
                  </a:lnTo>
                  <a:lnTo>
                    <a:pt x="1728" y="1026"/>
                  </a:lnTo>
                  <a:lnTo>
                    <a:pt x="1710" y="1103"/>
                  </a:lnTo>
                  <a:lnTo>
                    <a:pt x="1687" y="1177"/>
                  </a:lnTo>
                  <a:lnTo>
                    <a:pt x="1657" y="1248"/>
                  </a:lnTo>
                  <a:lnTo>
                    <a:pt x="1619" y="1318"/>
                  </a:lnTo>
                  <a:lnTo>
                    <a:pt x="1576" y="1382"/>
                  </a:lnTo>
                  <a:lnTo>
                    <a:pt x="1526" y="1445"/>
                  </a:lnTo>
                  <a:lnTo>
                    <a:pt x="1472" y="1500"/>
                  </a:lnTo>
                  <a:lnTo>
                    <a:pt x="1413" y="1552"/>
                  </a:lnTo>
                  <a:lnTo>
                    <a:pt x="1351" y="1599"/>
                  </a:lnTo>
                  <a:lnTo>
                    <a:pt x="1283" y="1638"/>
                  </a:lnTo>
                  <a:lnTo>
                    <a:pt x="1213" y="1672"/>
                  </a:lnTo>
                  <a:lnTo>
                    <a:pt x="1140" y="1700"/>
                  </a:lnTo>
                  <a:lnTo>
                    <a:pt x="1065" y="1720"/>
                  </a:lnTo>
                  <a:lnTo>
                    <a:pt x="988" y="1734"/>
                  </a:lnTo>
                  <a:lnTo>
                    <a:pt x="909" y="1742"/>
                  </a:lnTo>
                  <a:lnTo>
                    <a:pt x="833" y="1742"/>
                  </a:lnTo>
                  <a:lnTo>
                    <a:pt x="754" y="1734"/>
                  </a:lnTo>
                  <a:lnTo>
                    <a:pt x="677" y="1720"/>
                  </a:lnTo>
                  <a:lnTo>
                    <a:pt x="602" y="1700"/>
                  </a:lnTo>
                  <a:lnTo>
                    <a:pt x="529" y="1672"/>
                  </a:lnTo>
                  <a:lnTo>
                    <a:pt x="457" y="1638"/>
                  </a:lnTo>
                  <a:lnTo>
                    <a:pt x="391" y="1599"/>
                  </a:lnTo>
                  <a:lnTo>
                    <a:pt x="327" y="1552"/>
                  </a:lnTo>
                  <a:lnTo>
                    <a:pt x="268" y="1500"/>
                  </a:lnTo>
                  <a:lnTo>
                    <a:pt x="214" y="1445"/>
                  </a:lnTo>
                  <a:lnTo>
                    <a:pt x="166" y="1382"/>
                  </a:lnTo>
                  <a:lnTo>
                    <a:pt x="123" y="1318"/>
                  </a:lnTo>
                  <a:lnTo>
                    <a:pt x="85" y="1248"/>
                  </a:lnTo>
                  <a:lnTo>
                    <a:pt x="55" y="1177"/>
                  </a:lnTo>
                  <a:lnTo>
                    <a:pt x="30" y="1103"/>
                  </a:lnTo>
                  <a:lnTo>
                    <a:pt x="14" y="1026"/>
                  </a:lnTo>
                  <a:lnTo>
                    <a:pt x="3" y="950"/>
                  </a:lnTo>
                  <a:lnTo>
                    <a:pt x="0" y="871"/>
                  </a:lnTo>
                  <a:close/>
                </a:path>
              </a:pathLst>
            </a:custGeom>
            <a:solidFill>
              <a:srgbClr val="FFC000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Rectangle 15"/>
            <p:cNvSpPr>
              <a:spLocks noChangeArrowheads="1"/>
            </p:cNvSpPr>
            <p:nvPr/>
          </p:nvSpPr>
          <p:spPr bwMode="auto">
            <a:xfrm>
              <a:off x="2677" y="2145"/>
              <a:ext cx="460" cy="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dirty="0" smtClean="0">
                  <a:solidFill>
                    <a:srgbClr val="000000"/>
                  </a:solidFill>
                  <a:latin typeface="Arial" charset="0"/>
                </a:rPr>
                <a:t>Class</a:t>
              </a:r>
            </a:p>
            <a:p>
              <a:r>
                <a:rPr lang="en-US" sz="2100" dirty="0" smtClean="0">
                  <a:solidFill>
                    <a:srgbClr val="000000"/>
                  </a:solidFill>
                  <a:latin typeface="Arial" charset="0"/>
                </a:rPr>
                <a:t>Under</a:t>
              </a:r>
            </a:p>
            <a:p>
              <a:r>
                <a:rPr lang="en-US" sz="2100" dirty="0" smtClean="0">
                  <a:solidFill>
                    <a:srgbClr val="000000"/>
                  </a:solidFill>
                  <a:latin typeface="Arial" charset="0"/>
                </a:rPr>
                <a:t>Test</a:t>
              </a:r>
              <a:endParaRPr lang="en-US" dirty="0"/>
            </a:p>
          </p:txBody>
        </p:sp>
        <p:sp>
          <p:nvSpPr>
            <p:cNvPr id="6160" name="Line 17"/>
            <p:cNvSpPr>
              <a:spLocks noChangeShapeType="1"/>
            </p:cNvSpPr>
            <p:nvPr/>
          </p:nvSpPr>
          <p:spPr bwMode="auto">
            <a:xfrm>
              <a:off x="2877" y="1752"/>
              <a:ext cx="1" cy="173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1" name="Freeform 18"/>
            <p:cNvSpPr>
              <a:spLocks noEditPoints="1"/>
            </p:cNvSpPr>
            <p:nvPr/>
          </p:nvSpPr>
          <p:spPr bwMode="auto">
            <a:xfrm>
              <a:off x="2848" y="1671"/>
              <a:ext cx="59" cy="335"/>
            </a:xfrm>
            <a:custGeom>
              <a:avLst/>
              <a:gdLst>
                <a:gd name="T0" fmla="*/ 15 w 118"/>
                <a:gd name="T1" fmla="*/ 22 h 671"/>
                <a:gd name="T2" fmla="*/ 7 w 118"/>
                <a:gd name="T3" fmla="*/ 0 h 671"/>
                <a:gd name="T4" fmla="*/ 0 w 118"/>
                <a:gd name="T5" fmla="*/ 22 h 671"/>
                <a:gd name="T6" fmla="*/ 15 w 118"/>
                <a:gd name="T7" fmla="*/ 22 h 671"/>
                <a:gd name="T8" fmla="*/ 0 w 118"/>
                <a:gd name="T9" fmla="*/ 61 h 671"/>
                <a:gd name="T10" fmla="*/ 7 w 118"/>
                <a:gd name="T11" fmla="*/ 83 h 671"/>
                <a:gd name="T12" fmla="*/ 15 w 118"/>
                <a:gd name="T13" fmla="*/ 61 h 671"/>
                <a:gd name="T14" fmla="*/ 0 w 118"/>
                <a:gd name="T15" fmla="*/ 61 h 6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671"/>
                <a:gd name="T26" fmla="*/ 118 w 118"/>
                <a:gd name="T27" fmla="*/ 671 h 67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671">
                  <a:moveTo>
                    <a:pt x="118" y="177"/>
                  </a:moveTo>
                  <a:lnTo>
                    <a:pt x="59" y="0"/>
                  </a:lnTo>
                  <a:lnTo>
                    <a:pt x="0" y="177"/>
                  </a:lnTo>
                  <a:lnTo>
                    <a:pt x="118" y="177"/>
                  </a:lnTo>
                  <a:close/>
                  <a:moveTo>
                    <a:pt x="0" y="494"/>
                  </a:moveTo>
                  <a:lnTo>
                    <a:pt x="59" y="671"/>
                  </a:lnTo>
                  <a:lnTo>
                    <a:pt x="118" y="494"/>
                  </a:lnTo>
                  <a:lnTo>
                    <a:pt x="0" y="4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2" name="Line 19"/>
            <p:cNvSpPr>
              <a:spLocks noChangeShapeType="1"/>
            </p:cNvSpPr>
            <p:nvPr/>
          </p:nvSpPr>
          <p:spPr bwMode="auto">
            <a:xfrm>
              <a:off x="3278" y="2791"/>
              <a:ext cx="606" cy="44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Freeform 20"/>
            <p:cNvSpPr>
              <a:spLocks noEditPoints="1"/>
            </p:cNvSpPr>
            <p:nvPr/>
          </p:nvSpPr>
          <p:spPr bwMode="auto">
            <a:xfrm>
              <a:off x="3212" y="2743"/>
              <a:ext cx="738" cy="537"/>
            </a:xfrm>
            <a:custGeom>
              <a:avLst/>
              <a:gdLst>
                <a:gd name="T0" fmla="*/ 14 w 1475"/>
                <a:gd name="T1" fmla="*/ 19 h 1073"/>
                <a:gd name="T2" fmla="*/ 0 w 1475"/>
                <a:gd name="T3" fmla="*/ 0 h 1073"/>
                <a:gd name="T4" fmla="*/ 23 w 1475"/>
                <a:gd name="T5" fmla="*/ 8 h 1073"/>
                <a:gd name="T6" fmla="*/ 14 w 1475"/>
                <a:gd name="T7" fmla="*/ 19 h 1073"/>
                <a:gd name="T8" fmla="*/ 171 w 1475"/>
                <a:gd name="T9" fmla="*/ 116 h 1073"/>
                <a:gd name="T10" fmla="*/ 185 w 1475"/>
                <a:gd name="T11" fmla="*/ 135 h 1073"/>
                <a:gd name="T12" fmla="*/ 163 w 1475"/>
                <a:gd name="T13" fmla="*/ 128 h 1073"/>
                <a:gd name="T14" fmla="*/ 171 w 1475"/>
                <a:gd name="T15" fmla="*/ 116 h 10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75"/>
                <a:gd name="T25" fmla="*/ 0 h 1073"/>
                <a:gd name="T26" fmla="*/ 1475 w 1475"/>
                <a:gd name="T27" fmla="*/ 1073 h 107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75" h="1073">
                  <a:moveTo>
                    <a:pt x="109" y="152"/>
                  </a:moveTo>
                  <a:lnTo>
                    <a:pt x="0" y="0"/>
                  </a:lnTo>
                  <a:lnTo>
                    <a:pt x="179" y="58"/>
                  </a:lnTo>
                  <a:lnTo>
                    <a:pt x="109" y="152"/>
                  </a:lnTo>
                  <a:close/>
                  <a:moveTo>
                    <a:pt x="1368" y="921"/>
                  </a:moveTo>
                  <a:lnTo>
                    <a:pt x="1475" y="1073"/>
                  </a:lnTo>
                  <a:lnTo>
                    <a:pt x="1298" y="1018"/>
                  </a:lnTo>
                  <a:lnTo>
                    <a:pt x="1368" y="9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Line 21"/>
            <p:cNvSpPr>
              <a:spLocks noChangeShapeType="1"/>
            </p:cNvSpPr>
            <p:nvPr/>
          </p:nvSpPr>
          <p:spPr bwMode="auto">
            <a:xfrm>
              <a:off x="2877" y="2959"/>
              <a:ext cx="1" cy="374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Freeform 22"/>
            <p:cNvSpPr>
              <a:spLocks noEditPoints="1"/>
            </p:cNvSpPr>
            <p:nvPr/>
          </p:nvSpPr>
          <p:spPr bwMode="auto">
            <a:xfrm>
              <a:off x="2848" y="2877"/>
              <a:ext cx="59" cy="537"/>
            </a:xfrm>
            <a:custGeom>
              <a:avLst/>
              <a:gdLst>
                <a:gd name="T0" fmla="*/ 15 w 118"/>
                <a:gd name="T1" fmla="*/ 23 h 1072"/>
                <a:gd name="T2" fmla="*/ 7 w 118"/>
                <a:gd name="T3" fmla="*/ 0 h 1072"/>
                <a:gd name="T4" fmla="*/ 0 w 118"/>
                <a:gd name="T5" fmla="*/ 23 h 1072"/>
                <a:gd name="T6" fmla="*/ 15 w 118"/>
                <a:gd name="T7" fmla="*/ 23 h 1072"/>
                <a:gd name="T8" fmla="*/ 0 w 118"/>
                <a:gd name="T9" fmla="*/ 112 h 1072"/>
                <a:gd name="T10" fmla="*/ 7 w 118"/>
                <a:gd name="T11" fmla="*/ 135 h 1072"/>
                <a:gd name="T12" fmla="*/ 15 w 118"/>
                <a:gd name="T13" fmla="*/ 112 h 1072"/>
                <a:gd name="T14" fmla="*/ 0 w 118"/>
                <a:gd name="T15" fmla="*/ 112 h 10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8"/>
                <a:gd name="T25" fmla="*/ 0 h 1072"/>
                <a:gd name="T26" fmla="*/ 118 w 118"/>
                <a:gd name="T27" fmla="*/ 1072 h 10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8" h="1072">
                  <a:moveTo>
                    <a:pt x="118" y="177"/>
                  </a:moveTo>
                  <a:lnTo>
                    <a:pt x="59" y="0"/>
                  </a:lnTo>
                  <a:lnTo>
                    <a:pt x="0" y="177"/>
                  </a:lnTo>
                  <a:lnTo>
                    <a:pt x="118" y="177"/>
                  </a:lnTo>
                  <a:close/>
                  <a:moveTo>
                    <a:pt x="0" y="895"/>
                  </a:moveTo>
                  <a:lnTo>
                    <a:pt x="59" y="1072"/>
                  </a:lnTo>
                  <a:lnTo>
                    <a:pt x="118" y="895"/>
                  </a:lnTo>
                  <a:lnTo>
                    <a:pt x="0" y="8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Line 23"/>
            <p:cNvSpPr>
              <a:spLocks noChangeShapeType="1"/>
            </p:cNvSpPr>
            <p:nvPr/>
          </p:nvSpPr>
          <p:spPr bwMode="auto">
            <a:xfrm flipH="1">
              <a:off x="1871" y="2791"/>
              <a:ext cx="606" cy="44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Freeform 24"/>
            <p:cNvSpPr>
              <a:spLocks noEditPoints="1"/>
            </p:cNvSpPr>
            <p:nvPr/>
          </p:nvSpPr>
          <p:spPr bwMode="auto">
            <a:xfrm>
              <a:off x="1805" y="2743"/>
              <a:ext cx="737" cy="537"/>
            </a:xfrm>
            <a:custGeom>
              <a:avLst/>
              <a:gdLst>
                <a:gd name="T0" fmla="*/ 171 w 1475"/>
                <a:gd name="T1" fmla="*/ 19 h 1073"/>
                <a:gd name="T2" fmla="*/ 184 w 1475"/>
                <a:gd name="T3" fmla="*/ 0 h 1073"/>
                <a:gd name="T4" fmla="*/ 162 w 1475"/>
                <a:gd name="T5" fmla="*/ 8 h 1073"/>
                <a:gd name="T6" fmla="*/ 171 w 1475"/>
                <a:gd name="T7" fmla="*/ 19 h 1073"/>
                <a:gd name="T8" fmla="*/ 13 w 1475"/>
                <a:gd name="T9" fmla="*/ 116 h 1073"/>
                <a:gd name="T10" fmla="*/ 0 w 1475"/>
                <a:gd name="T11" fmla="*/ 135 h 1073"/>
                <a:gd name="T12" fmla="*/ 22 w 1475"/>
                <a:gd name="T13" fmla="*/ 128 h 1073"/>
                <a:gd name="T14" fmla="*/ 13 w 1475"/>
                <a:gd name="T15" fmla="*/ 116 h 10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75"/>
                <a:gd name="T25" fmla="*/ 0 h 1073"/>
                <a:gd name="T26" fmla="*/ 1475 w 1475"/>
                <a:gd name="T27" fmla="*/ 1073 h 107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75" h="1073">
                  <a:moveTo>
                    <a:pt x="1368" y="152"/>
                  </a:moveTo>
                  <a:lnTo>
                    <a:pt x="1475" y="0"/>
                  </a:lnTo>
                  <a:lnTo>
                    <a:pt x="1298" y="58"/>
                  </a:lnTo>
                  <a:lnTo>
                    <a:pt x="1368" y="152"/>
                  </a:lnTo>
                  <a:close/>
                  <a:moveTo>
                    <a:pt x="109" y="921"/>
                  </a:moveTo>
                  <a:lnTo>
                    <a:pt x="0" y="1073"/>
                  </a:lnTo>
                  <a:lnTo>
                    <a:pt x="179" y="1018"/>
                  </a:lnTo>
                  <a:lnTo>
                    <a:pt x="109" y="9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Rectangle 25"/>
            <p:cNvSpPr>
              <a:spLocks noChangeArrowheads="1"/>
            </p:cNvSpPr>
            <p:nvPr/>
          </p:nvSpPr>
          <p:spPr bwMode="auto">
            <a:xfrm>
              <a:off x="1000" y="1000"/>
              <a:ext cx="805" cy="537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Rectangle 26"/>
            <p:cNvSpPr>
              <a:spLocks noChangeArrowheads="1"/>
            </p:cNvSpPr>
            <p:nvPr/>
          </p:nvSpPr>
          <p:spPr bwMode="auto">
            <a:xfrm>
              <a:off x="1229" y="1055"/>
              <a:ext cx="32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Arial" charset="0"/>
                </a:rPr>
                <a:t>Test</a:t>
              </a:r>
              <a:endParaRPr lang="en-US"/>
            </a:p>
          </p:txBody>
        </p:sp>
        <p:sp>
          <p:nvSpPr>
            <p:cNvPr id="6170" name="Rectangle 27"/>
            <p:cNvSpPr>
              <a:spLocks noChangeArrowheads="1"/>
            </p:cNvSpPr>
            <p:nvPr/>
          </p:nvSpPr>
          <p:spPr bwMode="auto">
            <a:xfrm>
              <a:off x="1169" y="1269"/>
              <a:ext cx="50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dirty="0">
                  <a:solidFill>
                    <a:srgbClr val="000000"/>
                  </a:solidFill>
                  <a:latin typeface="Arial" charset="0"/>
                </a:rPr>
                <a:t>C</a:t>
              </a:r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ases</a:t>
              </a:r>
              <a:endParaRPr lang="en-US" dirty="0"/>
            </a:p>
          </p:txBody>
        </p:sp>
        <p:sp>
          <p:nvSpPr>
            <p:cNvPr id="6171" name="Rectangle 28"/>
            <p:cNvSpPr>
              <a:spLocks noChangeArrowheads="1"/>
            </p:cNvSpPr>
            <p:nvPr/>
          </p:nvSpPr>
          <p:spPr bwMode="auto">
            <a:xfrm>
              <a:off x="3950" y="1000"/>
              <a:ext cx="804" cy="537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69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Rectangle 29"/>
            <p:cNvSpPr>
              <a:spLocks noChangeArrowheads="1"/>
            </p:cNvSpPr>
            <p:nvPr/>
          </p:nvSpPr>
          <p:spPr bwMode="auto">
            <a:xfrm>
              <a:off x="4100" y="1062"/>
              <a:ext cx="534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Test</a:t>
              </a:r>
            </a:p>
            <a:p>
              <a:r>
                <a:rPr lang="en-US" sz="2200" dirty="0" smtClean="0">
                  <a:solidFill>
                    <a:srgbClr val="000000"/>
                  </a:solidFill>
                  <a:latin typeface="Arial" charset="0"/>
                </a:rPr>
                <a:t>Report</a:t>
              </a:r>
              <a:endParaRPr lang="en-US" dirty="0"/>
            </a:p>
          </p:txBody>
        </p:sp>
        <p:sp>
          <p:nvSpPr>
            <p:cNvPr id="6173" name="Line 30"/>
            <p:cNvSpPr>
              <a:spLocks noChangeShapeType="1"/>
            </p:cNvSpPr>
            <p:nvPr/>
          </p:nvSpPr>
          <p:spPr bwMode="auto">
            <a:xfrm>
              <a:off x="1805" y="1268"/>
              <a:ext cx="590" cy="119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4" name="Freeform 31"/>
            <p:cNvSpPr>
              <a:spLocks/>
            </p:cNvSpPr>
            <p:nvPr/>
          </p:nvSpPr>
          <p:spPr bwMode="auto">
            <a:xfrm>
              <a:off x="2383" y="1357"/>
              <a:ext cx="92" cy="57"/>
            </a:xfrm>
            <a:custGeom>
              <a:avLst/>
              <a:gdLst>
                <a:gd name="T0" fmla="*/ 3 w 184"/>
                <a:gd name="T1" fmla="*/ 0 h 114"/>
                <a:gd name="T2" fmla="*/ 23 w 184"/>
                <a:gd name="T3" fmla="*/ 12 h 114"/>
                <a:gd name="T4" fmla="*/ 0 w 184"/>
                <a:gd name="T5" fmla="*/ 14 h 114"/>
                <a:gd name="T6" fmla="*/ 3 w 184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"/>
                <a:gd name="T13" fmla="*/ 0 h 114"/>
                <a:gd name="T14" fmla="*/ 184 w 184"/>
                <a:gd name="T15" fmla="*/ 114 h 1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" h="114">
                  <a:moveTo>
                    <a:pt x="23" y="0"/>
                  </a:moveTo>
                  <a:lnTo>
                    <a:pt x="184" y="91"/>
                  </a:lnTo>
                  <a:lnTo>
                    <a:pt x="0" y="11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5" name="Line 32"/>
            <p:cNvSpPr>
              <a:spLocks noChangeShapeType="1"/>
            </p:cNvSpPr>
            <p:nvPr/>
          </p:nvSpPr>
          <p:spPr bwMode="auto">
            <a:xfrm flipV="1">
              <a:off x="3279" y="1284"/>
              <a:ext cx="591" cy="118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6" name="Freeform 33"/>
            <p:cNvSpPr>
              <a:spLocks/>
            </p:cNvSpPr>
            <p:nvPr/>
          </p:nvSpPr>
          <p:spPr bwMode="auto">
            <a:xfrm>
              <a:off x="3857" y="1257"/>
              <a:ext cx="93" cy="58"/>
            </a:xfrm>
            <a:custGeom>
              <a:avLst/>
              <a:gdLst>
                <a:gd name="T0" fmla="*/ 3 w 184"/>
                <a:gd name="T1" fmla="*/ 15 h 116"/>
                <a:gd name="T2" fmla="*/ 24 w 184"/>
                <a:gd name="T3" fmla="*/ 3 h 116"/>
                <a:gd name="T4" fmla="*/ 0 w 184"/>
                <a:gd name="T5" fmla="*/ 0 h 116"/>
                <a:gd name="T6" fmla="*/ 3 w 184"/>
                <a:gd name="T7" fmla="*/ 15 h 1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"/>
                <a:gd name="T13" fmla="*/ 0 h 116"/>
                <a:gd name="T14" fmla="*/ 184 w 184"/>
                <a:gd name="T15" fmla="*/ 116 h 1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" h="116">
                  <a:moveTo>
                    <a:pt x="23" y="116"/>
                  </a:moveTo>
                  <a:lnTo>
                    <a:pt x="184" y="23"/>
                  </a:lnTo>
                  <a:lnTo>
                    <a:pt x="0" y="0"/>
                  </a:lnTo>
                  <a:lnTo>
                    <a:pt x="23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373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FD0-5152-B94C-B9B2-2F3FAEFB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Client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0C379-72B8-6646-ABE1-20500C7E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80609" cy="46409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public class </a:t>
            </a:r>
            <a:r>
              <a:rPr lang="en-US" dirty="0"/>
              <a:t>Client {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 smtClean="0"/>
              <a:t>private </a:t>
            </a:r>
            <a:r>
              <a:rPr lang="en-US" dirty="0" err="1" smtClean="0"/>
              <a:t>RealUserDAO</a:t>
            </a:r>
            <a:r>
              <a:rPr lang="en-US" dirty="0" smtClean="0"/>
              <a:t> </a:t>
            </a:r>
            <a:r>
              <a:rPr lang="en-US" b="1" dirty="0" err="1"/>
              <a:t>userDAO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/>
              <a:t>RealPersonDAO</a:t>
            </a:r>
            <a:r>
              <a:rPr lang="en-US" dirty="0"/>
              <a:t> </a:t>
            </a:r>
            <a:r>
              <a:rPr lang="en-US" b="1" dirty="0" err="1"/>
              <a:t>personDAO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/>
              <a:t>RealEventDAO</a:t>
            </a:r>
            <a:r>
              <a:rPr lang="en-US" dirty="0"/>
              <a:t> </a:t>
            </a:r>
            <a:r>
              <a:rPr lang="en-US" b="1" dirty="0" err="1"/>
              <a:t>eventDAO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 smtClean="0"/>
              <a:t>public </a:t>
            </a:r>
            <a:r>
              <a:rPr lang="en-US" dirty="0" smtClean="0"/>
              <a:t>Client()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 smtClean="0"/>
              <a:t>        </a:t>
            </a:r>
            <a:r>
              <a:rPr lang="en-US" b="1" dirty="0" err="1" smtClean="0"/>
              <a:t>userDAO</a:t>
            </a:r>
            <a:r>
              <a:rPr lang="en-US" b="1" dirty="0" smtClean="0"/>
              <a:t> </a:t>
            </a:r>
            <a:r>
              <a:rPr lang="en-US" dirty="0"/>
              <a:t>= </a:t>
            </a:r>
            <a:r>
              <a:rPr lang="en-US" dirty="0"/>
              <a:t>new </a:t>
            </a:r>
            <a:r>
              <a:rPr lang="en-US" dirty="0" err="1"/>
              <a:t>RealUserDAO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personDAO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/>
              <a:t>new </a:t>
            </a:r>
            <a:r>
              <a:rPr lang="en-US" dirty="0" err="1"/>
              <a:t>RealPersonDAO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eventDAO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/>
              <a:t>new </a:t>
            </a:r>
            <a:r>
              <a:rPr lang="en-US" dirty="0" err="1"/>
              <a:t>RealEventDAO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2A4BC-10EA-8648-98C8-1D04E5D9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F20C379-72B8-6646-ABE1-20500C7E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80609" cy="46409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public class </a:t>
            </a:r>
            <a:r>
              <a:rPr lang="en-US" dirty="0"/>
              <a:t>Client {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 smtClean="0"/>
              <a:t>private </a:t>
            </a:r>
            <a:r>
              <a:rPr lang="en-US" dirty="0" err="1" smtClean="0"/>
              <a:t>RealUserDAO</a:t>
            </a:r>
            <a:r>
              <a:rPr lang="en-US" dirty="0" smtClean="0"/>
              <a:t> </a:t>
            </a:r>
            <a:r>
              <a:rPr lang="en-US" b="1" dirty="0" err="1"/>
              <a:t>userDAO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/>
              <a:t>RealPersonDAO</a:t>
            </a:r>
            <a:r>
              <a:rPr lang="en-US" dirty="0"/>
              <a:t> </a:t>
            </a:r>
            <a:r>
              <a:rPr lang="en-US" b="1" dirty="0" err="1"/>
              <a:t>personDAO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/>
              <a:t>RealEventDAO</a:t>
            </a:r>
            <a:r>
              <a:rPr lang="en-US" dirty="0"/>
              <a:t> </a:t>
            </a:r>
            <a:r>
              <a:rPr lang="en-US" b="1" dirty="0" err="1"/>
              <a:t>eventDAO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 smtClean="0"/>
              <a:t>public </a:t>
            </a:r>
            <a:r>
              <a:rPr lang="en-US" dirty="0" smtClean="0"/>
              <a:t>Client()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 smtClean="0"/>
              <a:t>        </a:t>
            </a:r>
            <a:r>
              <a:rPr lang="en-US" b="1" dirty="0" err="1" smtClean="0"/>
              <a:t>userDAO</a:t>
            </a:r>
            <a:r>
              <a:rPr lang="en-US" b="1" dirty="0" smtClean="0"/>
              <a:t> </a:t>
            </a:r>
            <a:r>
              <a:rPr lang="en-US" dirty="0"/>
              <a:t>= </a:t>
            </a:r>
            <a:r>
              <a:rPr lang="en-US" dirty="0"/>
              <a:t>new </a:t>
            </a:r>
            <a:r>
              <a:rPr lang="en-US" dirty="0" err="1"/>
              <a:t>RealUserDAO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personDAO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/>
              <a:t>new </a:t>
            </a:r>
            <a:r>
              <a:rPr lang="en-US" dirty="0" err="1"/>
              <a:t>RealPersonDAO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eventDAO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/>
              <a:t>new </a:t>
            </a:r>
            <a:r>
              <a:rPr lang="en-US" dirty="0" err="1"/>
              <a:t>RealEventDAO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86FD0-5152-B94C-B9B2-2F3FAEFB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Client Code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2A4BC-10EA-8648-98C8-1D04E5D9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5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311539" y="4196310"/>
            <a:ext cx="381000" cy="375139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311539" y="4254926"/>
            <a:ext cx="381000" cy="316523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711093" y="4542141"/>
            <a:ext cx="381000" cy="375139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3711093" y="4600757"/>
            <a:ext cx="381000" cy="316523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20593" y="4917280"/>
            <a:ext cx="381000" cy="375139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520593" y="4975896"/>
            <a:ext cx="381000" cy="316523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994635" y="2453877"/>
            <a:ext cx="381000" cy="375139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994635" y="2512493"/>
            <a:ext cx="381000" cy="316523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185135" y="2868168"/>
            <a:ext cx="381000" cy="375139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185135" y="2926784"/>
            <a:ext cx="381000" cy="316523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931362" y="3213999"/>
            <a:ext cx="381000" cy="375139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931362" y="3272615"/>
            <a:ext cx="381000" cy="316523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32329" y="2992926"/>
            <a:ext cx="4591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</a:t>
            </a:r>
            <a:r>
              <a:rPr lang="en-US" sz="2400" dirty="0" smtClean="0">
                <a:solidFill>
                  <a:srgbClr val="C00000"/>
                </a:solidFill>
              </a:rPr>
              <a:t>rogramming to concrete types and Calling “new” create inflexible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dependencies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30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FD0-5152-B94C-B9B2-2F3FAEFB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Client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0C379-72B8-6646-ABE1-20500C7E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80609" cy="46409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public class </a:t>
            </a:r>
            <a:r>
              <a:rPr lang="en-US" dirty="0"/>
              <a:t>Client {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 smtClean="0"/>
              <a:t>private </a:t>
            </a:r>
            <a:r>
              <a:rPr lang="en-US" dirty="0" err="1" smtClean="0"/>
              <a:t>UserDAO</a:t>
            </a:r>
            <a:r>
              <a:rPr lang="en-US" dirty="0" smtClean="0"/>
              <a:t> </a:t>
            </a:r>
            <a:r>
              <a:rPr lang="en-US" b="1" dirty="0" err="1"/>
              <a:t>userDAO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 smtClean="0"/>
              <a:t>PersonDAO</a:t>
            </a:r>
            <a:r>
              <a:rPr lang="en-US" dirty="0" smtClean="0"/>
              <a:t> </a:t>
            </a:r>
            <a:r>
              <a:rPr lang="en-US" b="1" dirty="0" err="1"/>
              <a:t>personDAO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 smtClean="0"/>
              <a:t>EventDAO</a:t>
            </a:r>
            <a:r>
              <a:rPr lang="en-US" dirty="0" smtClean="0"/>
              <a:t> </a:t>
            </a:r>
            <a:r>
              <a:rPr lang="en-US" b="1" dirty="0" err="1"/>
              <a:t>eventDAO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public </a:t>
            </a:r>
            <a:r>
              <a:rPr lang="en-US" dirty="0"/>
              <a:t>Client</a:t>
            </a:r>
            <a:r>
              <a:rPr lang="en-US" dirty="0" smtClean="0"/>
              <a:t>()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 smtClean="0"/>
              <a:t>        </a:t>
            </a:r>
            <a:r>
              <a:rPr lang="en-US" b="1" dirty="0" err="1" smtClean="0"/>
              <a:t>userDAO</a:t>
            </a:r>
            <a:r>
              <a:rPr lang="en-US" b="1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new </a:t>
            </a:r>
            <a:r>
              <a:rPr lang="en-US" dirty="0" err="1" smtClean="0"/>
              <a:t>RealUserDAO</a:t>
            </a:r>
            <a:r>
              <a:rPr lang="en-US" dirty="0" smtClean="0"/>
              <a:t>();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personDAO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smtClean="0"/>
              <a:t>new </a:t>
            </a:r>
            <a:r>
              <a:rPr lang="en-US" dirty="0" err="1" smtClean="0"/>
              <a:t>RealPersonDAO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eventDAO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smtClean="0"/>
              <a:t>new </a:t>
            </a:r>
            <a:r>
              <a:rPr lang="en-US" dirty="0" err="1" smtClean="0"/>
              <a:t>RealEventDAO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2A4BC-10EA-8648-98C8-1D04E5D9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299012" y="4006256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?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38961" y="4390976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?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5983" y="4711243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?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50052" y="3936092"/>
            <a:ext cx="4591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How do we avoid calling new?</a:t>
            </a: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400" dirty="0" smtClean="0">
                <a:solidFill>
                  <a:srgbClr val="C00000"/>
                </a:solidFill>
              </a:rPr>
              <a:t>1. Abstract Factory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2. Dependency Injection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73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34" y="383261"/>
            <a:ext cx="8578051" cy="56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1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FD0-5152-B94C-B9B2-2F3FAEFB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Client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0C379-72B8-6646-ABE1-20500C7ED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public class </a:t>
            </a:r>
            <a:r>
              <a:rPr lang="en-US" dirty="0"/>
              <a:t>Client {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 smtClean="0"/>
              <a:t>DAOFactory</a:t>
            </a:r>
            <a:r>
              <a:rPr lang="en-US" dirty="0" smtClean="0"/>
              <a:t> </a:t>
            </a:r>
            <a:r>
              <a:rPr lang="en-US" b="1" dirty="0" err="1"/>
              <a:t>daoFactory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 smtClean="0"/>
              <a:t>UserDAO</a:t>
            </a:r>
            <a:r>
              <a:rPr lang="en-US" dirty="0" smtClean="0"/>
              <a:t> </a:t>
            </a:r>
            <a:r>
              <a:rPr lang="en-US" b="1" dirty="0" err="1"/>
              <a:t>userDAO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 smtClean="0"/>
              <a:t>PersonDAO</a:t>
            </a:r>
            <a:r>
              <a:rPr lang="en-US" dirty="0" smtClean="0"/>
              <a:t> </a:t>
            </a:r>
            <a:r>
              <a:rPr lang="en-US" b="1" dirty="0" err="1"/>
              <a:t>personDAO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 smtClean="0"/>
              <a:t>EventDAO</a:t>
            </a:r>
            <a:r>
              <a:rPr lang="en-US" dirty="0" smtClean="0"/>
              <a:t> </a:t>
            </a:r>
            <a:r>
              <a:rPr lang="en-US" b="1" dirty="0" err="1"/>
              <a:t>eventDAO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public </a:t>
            </a:r>
            <a:r>
              <a:rPr lang="en-US" dirty="0"/>
              <a:t>Client(</a:t>
            </a:r>
            <a:r>
              <a:rPr lang="en-US" dirty="0" err="1"/>
              <a:t>DAOFactory</a:t>
            </a:r>
            <a:r>
              <a:rPr lang="en-US" dirty="0"/>
              <a:t> </a:t>
            </a:r>
            <a:r>
              <a:rPr lang="en-US" dirty="0" err="1"/>
              <a:t>daoFactory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this</a:t>
            </a:r>
            <a:r>
              <a:rPr lang="en-US" dirty="0" err="1"/>
              <a:t>.</a:t>
            </a:r>
            <a:r>
              <a:rPr lang="en-US" b="1" dirty="0" err="1"/>
              <a:t>daoFactory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err="1"/>
              <a:t>daoFactory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userDAO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err="1"/>
              <a:t>daoFactory.getUserDAO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personDAO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err="1"/>
              <a:t>daoFactory.getPersonDAO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eventDAO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err="1"/>
              <a:t>daoFactory.getEventDAO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2A4BC-10EA-8648-98C8-1D04E5D9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9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AutoShape 4"/>
          <p:cNvSpPr>
            <a:spLocks noChangeAspect="1" noChangeArrowheads="1" noTextEdit="1"/>
          </p:cNvSpPr>
          <p:nvPr/>
        </p:nvSpPr>
        <p:spPr bwMode="auto">
          <a:xfrm>
            <a:off x="3870326" y="1674814"/>
            <a:ext cx="6088064" cy="4811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1" name="Rectangle 8"/>
          <p:cNvSpPr>
            <a:spLocks noChangeArrowheads="1"/>
          </p:cNvSpPr>
          <p:nvPr/>
        </p:nvSpPr>
        <p:spPr bwMode="auto">
          <a:xfrm>
            <a:off x="2236063" y="4016996"/>
            <a:ext cx="1276350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2" name="Rectangle 9"/>
          <p:cNvSpPr>
            <a:spLocks noChangeArrowheads="1"/>
          </p:cNvSpPr>
          <p:nvPr/>
        </p:nvSpPr>
        <p:spPr bwMode="auto">
          <a:xfrm>
            <a:off x="2280513" y="4150346"/>
            <a:ext cx="1230313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     SQL</a:t>
            </a:r>
          </a:p>
          <a:p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PersonDAO</a:t>
            </a:r>
            <a:endParaRPr lang="en-US" dirty="0"/>
          </a:p>
        </p:txBody>
      </p:sp>
      <p:sp>
        <p:nvSpPr>
          <p:cNvPr id="6153" name="Rectangle 10"/>
          <p:cNvSpPr>
            <a:spLocks noChangeArrowheads="1"/>
          </p:cNvSpPr>
          <p:nvPr/>
        </p:nvSpPr>
        <p:spPr bwMode="auto">
          <a:xfrm>
            <a:off x="532675" y="3804271"/>
            <a:ext cx="1277938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4" name="Rectangle 11"/>
          <p:cNvSpPr>
            <a:spLocks noChangeArrowheads="1"/>
          </p:cNvSpPr>
          <p:nvPr/>
        </p:nvSpPr>
        <p:spPr bwMode="auto">
          <a:xfrm>
            <a:off x="653325" y="3932859"/>
            <a:ext cx="98745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   SQL</a:t>
            </a:r>
          </a:p>
          <a:p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UserDAO</a:t>
            </a:r>
            <a:endParaRPr lang="en-US" dirty="0"/>
          </a:p>
        </p:txBody>
      </p:sp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3937864" y="3804271"/>
            <a:ext cx="1277938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6" name="Rectangle 13"/>
          <p:cNvSpPr>
            <a:spLocks noChangeArrowheads="1"/>
          </p:cNvSpPr>
          <p:nvPr/>
        </p:nvSpPr>
        <p:spPr bwMode="auto">
          <a:xfrm>
            <a:off x="4042639" y="3951909"/>
            <a:ext cx="1090613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    SQL</a:t>
            </a:r>
          </a:p>
          <a:p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EventDAO</a:t>
            </a:r>
            <a:endParaRPr lang="en-US" dirty="0"/>
          </a:p>
        </p:txBody>
      </p:sp>
      <p:sp>
        <p:nvSpPr>
          <p:cNvPr id="6157" name="Freeform 14"/>
          <p:cNvSpPr>
            <a:spLocks/>
          </p:cNvSpPr>
          <p:nvPr/>
        </p:nvSpPr>
        <p:spPr bwMode="auto">
          <a:xfrm>
            <a:off x="2183676" y="1783384"/>
            <a:ext cx="1382713" cy="1381125"/>
          </a:xfrm>
          <a:custGeom>
            <a:avLst/>
            <a:gdLst>
              <a:gd name="T0" fmla="*/ 1 w 1742"/>
              <a:gd name="T1" fmla="*/ 99 h 1742"/>
              <a:gd name="T2" fmla="*/ 3 w 1742"/>
              <a:gd name="T3" fmla="*/ 79 h 1742"/>
              <a:gd name="T4" fmla="*/ 11 w 1742"/>
              <a:gd name="T5" fmla="*/ 61 h 1742"/>
              <a:gd name="T6" fmla="*/ 21 w 1742"/>
              <a:gd name="T7" fmla="*/ 44 h 1742"/>
              <a:gd name="T8" fmla="*/ 34 w 1742"/>
              <a:gd name="T9" fmla="*/ 30 h 1742"/>
              <a:gd name="T10" fmla="*/ 49 w 1742"/>
              <a:gd name="T11" fmla="*/ 17 h 1742"/>
              <a:gd name="T12" fmla="*/ 67 w 1742"/>
              <a:gd name="T13" fmla="*/ 8 h 1742"/>
              <a:gd name="T14" fmla="*/ 85 w 1742"/>
              <a:gd name="T15" fmla="*/ 2 h 1742"/>
              <a:gd name="T16" fmla="*/ 105 w 1742"/>
              <a:gd name="T17" fmla="*/ 0 h 1742"/>
              <a:gd name="T18" fmla="*/ 123 w 1742"/>
              <a:gd name="T19" fmla="*/ 1 h 1742"/>
              <a:gd name="T20" fmla="*/ 143 w 1742"/>
              <a:gd name="T21" fmla="*/ 5 h 1742"/>
              <a:gd name="T22" fmla="*/ 161 w 1742"/>
              <a:gd name="T23" fmla="*/ 13 h 1742"/>
              <a:gd name="T24" fmla="*/ 177 w 1742"/>
              <a:gd name="T25" fmla="*/ 23 h 1742"/>
              <a:gd name="T26" fmla="*/ 191 w 1742"/>
              <a:gd name="T27" fmla="*/ 37 h 1742"/>
              <a:gd name="T28" fmla="*/ 203 w 1742"/>
              <a:gd name="T29" fmla="*/ 53 h 1742"/>
              <a:gd name="T30" fmla="*/ 211 w 1742"/>
              <a:gd name="T31" fmla="*/ 70 h 1742"/>
              <a:gd name="T32" fmla="*/ 216 w 1742"/>
              <a:gd name="T33" fmla="*/ 89 h 1742"/>
              <a:gd name="T34" fmla="*/ 218 w 1742"/>
              <a:gd name="T35" fmla="*/ 108 h 1742"/>
              <a:gd name="T36" fmla="*/ 216 w 1742"/>
              <a:gd name="T37" fmla="*/ 128 h 1742"/>
              <a:gd name="T38" fmla="*/ 211 w 1742"/>
              <a:gd name="T39" fmla="*/ 147 h 1742"/>
              <a:gd name="T40" fmla="*/ 203 w 1742"/>
              <a:gd name="T41" fmla="*/ 164 h 1742"/>
              <a:gd name="T42" fmla="*/ 191 w 1742"/>
              <a:gd name="T43" fmla="*/ 180 h 1742"/>
              <a:gd name="T44" fmla="*/ 177 w 1742"/>
              <a:gd name="T45" fmla="*/ 193 h 1742"/>
              <a:gd name="T46" fmla="*/ 161 w 1742"/>
              <a:gd name="T47" fmla="*/ 204 h 1742"/>
              <a:gd name="T48" fmla="*/ 143 w 1742"/>
              <a:gd name="T49" fmla="*/ 212 h 1742"/>
              <a:gd name="T50" fmla="*/ 123 w 1742"/>
              <a:gd name="T51" fmla="*/ 216 h 1742"/>
              <a:gd name="T52" fmla="*/ 105 w 1742"/>
              <a:gd name="T53" fmla="*/ 217 h 1742"/>
              <a:gd name="T54" fmla="*/ 85 w 1742"/>
              <a:gd name="T55" fmla="*/ 214 h 1742"/>
              <a:gd name="T56" fmla="*/ 67 w 1742"/>
              <a:gd name="T57" fmla="*/ 208 h 1742"/>
              <a:gd name="T58" fmla="*/ 49 w 1742"/>
              <a:gd name="T59" fmla="*/ 199 h 1742"/>
              <a:gd name="T60" fmla="*/ 34 w 1742"/>
              <a:gd name="T61" fmla="*/ 187 h 1742"/>
              <a:gd name="T62" fmla="*/ 21 w 1742"/>
              <a:gd name="T63" fmla="*/ 172 h 1742"/>
              <a:gd name="T64" fmla="*/ 11 w 1742"/>
              <a:gd name="T65" fmla="*/ 155 h 1742"/>
              <a:gd name="T66" fmla="*/ 3 w 1742"/>
              <a:gd name="T67" fmla="*/ 137 h 1742"/>
              <a:gd name="T68" fmla="*/ 1 w 1742"/>
              <a:gd name="T69" fmla="*/ 118 h 1742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742"/>
              <a:gd name="T106" fmla="*/ 0 h 1742"/>
              <a:gd name="T107" fmla="*/ 1742 w 1742"/>
              <a:gd name="T108" fmla="*/ 1742 h 1742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742" h="1742">
                <a:moveTo>
                  <a:pt x="0" y="871"/>
                </a:moveTo>
                <a:lnTo>
                  <a:pt x="3" y="792"/>
                </a:lnTo>
                <a:lnTo>
                  <a:pt x="14" y="715"/>
                </a:lnTo>
                <a:lnTo>
                  <a:pt x="30" y="639"/>
                </a:lnTo>
                <a:lnTo>
                  <a:pt x="55" y="565"/>
                </a:lnTo>
                <a:lnTo>
                  <a:pt x="85" y="492"/>
                </a:lnTo>
                <a:lnTo>
                  <a:pt x="123" y="424"/>
                </a:lnTo>
                <a:lnTo>
                  <a:pt x="166" y="358"/>
                </a:lnTo>
                <a:lnTo>
                  <a:pt x="214" y="297"/>
                </a:lnTo>
                <a:lnTo>
                  <a:pt x="268" y="242"/>
                </a:lnTo>
                <a:lnTo>
                  <a:pt x="327" y="190"/>
                </a:lnTo>
                <a:lnTo>
                  <a:pt x="391" y="143"/>
                </a:lnTo>
                <a:lnTo>
                  <a:pt x="457" y="104"/>
                </a:lnTo>
                <a:lnTo>
                  <a:pt x="529" y="70"/>
                </a:lnTo>
                <a:lnTo>
                  <a:pt x="602" y="41"/>
                </a:lnTo>
                <a:lnTo>
                  <a:pt x="677" y="22"/>
                </a:lnTo>
                <a:lnTo>
                  <a:pt x="754" y="8"/>
                </a:lnTo>
                <a:lnTo>
                  <a:pt x="833" y="0"/>
                </a:lnTo>
                <a:lnTo>
                  <a:pt x="909" y="0"/>
                </a:lnTo>
                <a:lnTo>
                  <a:pt x="988" y="8"/>
                </a:lnTo>
                <a:lnTo>
                  <a:pt x="1065" y="22"/>
                </a:lnTo>
                <a:lnTo>
                  <a:pt x="1140" y="41"/>
                </a:lnTo>
                <a:lnTo>
                  <a:pt x="1213" y="70"/>
                </a:lnTo>
                <a:lnTo>
                  <a:pt x="1283" y="104"/>
                </a:lnTo>
                <a:lnTo>
                  <a:pt x="1351" y="143"/>
                </a:lnTo>
                <a:lnTo>
                  <a:pt x="1413" y="190"/>
                </a:lnTo>
                <a:lnTo>
                  <a:pt x="1472" y="242"/>
                </a:lnTo>
                <a:lnTo>
                  <a:pt x="1526" y="297"/>
                </a:lnTo>
                <a:lnTo>
                  <a:pt x="1576" y="358"/>
                </a:lnTo>
                <a:lnTo>
                  <a:pt x="1619" y="424"/>
                </a:lnTo>
                <a:lnTo>
                  <a:pt x="1657" y="492"/>
                </a:lnTo>
                <a:lnTo>
                  <a:pt x="1687" y="565"/>
                </a:lnTo>
                <a:lnTo>
                  <a:pt x="1710" y="639"/>
                </a:lnTo>
                <a:lnTo>
                  <a:pt x="1728" y="715"/>
                </a:lnTo>
                <a:lnTo>
                  <a:pt x="1739" y="792"/>
                </a:lnTo>
                <a:lnTo>
                  <a:pt x="1742" y="871"/>
                </a:lnTo>
                <a:lnTo>
                  <a:pt x="1739" y="950"/>
                </a:lnTo>
                <a:lnTo>
                  <a:pt x="1728" y="1026"/>
                </a:lnTo>
                <a:lnTo>
                  <a:pt x="1710" y="1103"/>
                </a:lnTo>
                <a:lnTo>
                  <a:pt x="1687" y="1177"/>
                </a:lnTo>
                <a:lnTo>
                  <a:pt x="1657" y="1248"/>
                </a:lnTo>
                <a:lnTo>
                  <a:pt x="1619" y="1318"/>
                </a:lnTo>
                <a:lnTo>
                  <a:pt x="1576" y="1382"/>
                </a:lnTo>
                <a:lnTo>
                  <a:pt x="1526" y="1445"/>
                </a:lnTo>
                <a:lnTo>
                  <a:pt x="1472" y="1500"/>
                </a:lnTo>
                <a:lnTo>
                  <a:pt x="1413" y="1552"/>
                </a:lnTo>
                <a:lnTo>
                  <a:pt x="1351" y="1599"/>
                </a:lnTo>
                <a:lnTo>
                  <a:pt x="1283" y="1638"/>
                </a:lnTo>
                <a:lnTo>
                  <a:pt x="1213" y="1672"/>
                </a:lnTo>
                <a:lnTo>
                  <a:pt x="1140" y="1700"/>
                </a:lnTo>
                <a:lnTo>
                  <a:pt x="1065" y="1720"/>
                </a:lnTo>
                <a:lnTo>
                  <a:pt x="988" y="1734"/>
                </a:lnTo>
                <a:lnTo>
                  <a:pt x="909" y="1742"/>
                </a:lnTo>
                <a:lnTo>
                  <a:pt x="833" y="1742"/>
                </a:lnTo>
                <a:lnTo>
                  <a:pt x="754" y="1734"/>
                </a:lnTo>
                <a:lnTo>
                  <a:pt x="677" y="1720"/>
                </a:lnTo>
                <a:lnTo>
                  <a:pt x="602" y="1700"/>
                </a:lnTo>
                <a:lnTo>
                  <a:pt x="529" y="1672"/>
                </a:lnTo>
                <a:lnTo>
                  <a:pt x="457" y="1638"/>
                </a:lnTo>
                <a:lnTo>
                  <a:pt x="391" y="1599"/>
                </a:lnTo>
                <a:lnTo>
                  <a:pt x="327" y="1552"/>
                </a:lnTo>
                <a:lnTo>
                  <a:pt x="268" y="1500"/>
                </a:lnTo>
                <a:lnTo>
                  <a:pt x="214" y="1445"/>
                </a:lnTo>
                <a:lnTo>
                  <a:pt x="166" y="1382"/>
                </a:lnTo>
                <a:lnTo>
                  <a:pt x="123" y="1318"/>
                </a:lnTo>
                <a:lnTo>
                  <a:pt x="85" y="1248"/>
                </a:lnTo>
                <a:lnTo>
                  <a:pt x="55" y="1177"/>
                </a:lnTo>
                <a:lnTo>
                  <a:pt x="30" y="1103"/>
                </a:lnTo>
                <a:lnTo>
                  <a:pt x="14" y="1026"/>
                </a:lnTo>
                <a:lnTo>
                  <a:pt x="3" y="950"/>
                </a:lnTo>
                <a:lnTo>
                  <a:pt x="0" y="871"/>
                </a:lnTo>
                <a:close/>
              </a:path>
            </a:pathLst>
          </a:custGeom>
          <a:solidFill>
            <a:srgbClr val="FFC000"/>
          </a:solidFill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8" name="Rectangle 15"/>
          <p:cNvSpPr>
            <a:spLocks noChangeArrowheads="1"/>
          </p:cNvSpPr>
          <p:nvPr/>
        </p:nvSpPr>
        <p:spPr bwMode="auto">
          <a:xfrm>
            <a:off x="2532783" y="2312364"/>
            <a:ext cx="68608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100" dirty="0" smtClean="0">
                <a:solidFill>
                  <a:srgbClr val="000000"/>
                </a:solidFill>
                <a:latin typeface="Arial" charset="0"/>
              </a:rPr>
              <a:t>Client</a:t>
            </a:r>
            <a:endParaRPr lang="en-US" dirty="0"/>
          </a:p>
        </p:txBody>
      </p:sp>
      <p:sp>
        <p:nvSpPr>
          <p:cNvPr id="6162" name="Line 19"/>
          <p:cNvSpPr>
            <a:spLocks noChangeShapeType="1"/>
          </p:cNvSpPr>
          <p:nvPr/>
        </p:nvSpPr>
        <p:spPr bwMode="auto">
          <a:xfrm>
            <a:off x="3510826" y="3027984"/>
            <a:ext cx="962025" cy="7000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3" name="Freeform 20"/>
          <p:cNvSpPr>
            <a:spLocks noEditPoints="1"/>
          </p:cNvSpPr>
          <p:nvPr/>
        </p:nvSpPr>
        <p:spPr bwMode="auto">
          <a:xfrm>
            <a:off x="3406051" y="2951784"/>
            <a:ext cx="1171575" cy="852488"/>
          </a:xfrm>
          <a:custGeom>
            <a:avLst/>
            <a:gdLst>
              <a:gd name="T0" fmla="*/ 14 w 1475"/>
              <a:gd name="T1" fmla="*/ 19 h 1073"/>
              <a:gd name="T2" fmla="*/ 0 w 1475"/>
              <a:gd name="T3" fmla="*/ 0 h 1073"/>
              <a:gd name="T4" fmla="*/ 23 w 1475"/>
              <a:gd name="T5" fmla="*/ 8 h 1073"/>
              <a:gd name="T6" fmla="*/ 14 w 1475"/>
              <a:gd name="T7" fmla="*/ 19 h 1073"/>
              <a:gd name="T8" fmla="*/ 171 w 1475"/>
              <a:gd name="T9" fmla="*/ 116 h 1073"/>
              <a:gd name="T10" fmla="*/ 185 w 1475"/>
              <a:gd name="T11" fmla="*/ 135 h 1073"/>
              <a:gd name="T12" fmla="*/ 163 w 1475"/>
              <a:gd name="T13" fmla="*/ 128 h 1073"/>
              <a:gd name="T14" fmla="*/ 171 w 1475"/>
              <a:gd name="T15" fmla="*/ 116 h 107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75"/>
              <a:gd name="T25" fmla="*/ 0 h 1073"/>
              <a:gd name="T26" fmla="*/ 1475 w 1475"/>
              <a:gd name="T27" fmla="*/ 1073 h 107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75" h="1073">
                <a:moveTo>
                  <a:pt x="109" y="152"/>
                </a:moveTo>
                <a:lnTo>
                  <a:pt x="0" y="0"/>
                </a:lnTo>
                <a:lnTo>
                  <a:pt x="179" y="58"/>
                </a:lnTo>
                <a:lnTo>
                  <a:pt x="109" y="152"/>
                </a:lnTo>
                <a:close/>
                <a:moveTo>
                  <a:pt x="1368" y="921"/>
                </a:moveTo>
                <a:lnTo>
                  <a:pt x="1475" y="1073"/>
                </a:lnTo>
                <a:lnTo>
                  <a:pt x="1298" y="1018"/>
                </a:lnTo>
                <a:lnTo>
                  <a:pt x="1368" y="9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4" name="Line 21"/>
          <p:cNvSpPr>
            <a:spLocks noChangeShapeType="1"/>
          </p:cNvSpPr>
          <p:nvPr/>
        </p:nvSpPr>
        <p:spPr bwMode="auto">
          <a:xfrm>
            <a:off x="2874238" y="3294684"/>
            <a:ext cx="1588" cy="59372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5" name="Freeform 22"/>
          <p:cNvSpPr>
            <a:spLocks noEditPoints="1"/>
          </p:cNvSpPr>
          <p:nvPr/>
        </p:nvSpPr>
        <p:spPr bwMode="auto">
          <a:xfrm>
            <a:off x="2828201" y="3164509"/>
            <a:ext cx="93663" cy="852488"/>
          </a:xfrm>
          <a:custGeom>
            <a:avLst/>
            <a:gdLst>
              <a:gd name="T0" fmla="*/ 15 w 118"/>
              <a:gd name="T1" fmla="*/ 23 h 1072"/>
              <a:gd name="T2" fmla="*/ 7 w 118"/>
              <a:gd name="T3" fmla="*/ 0 h 1072"/>
              <a:gd name="T4" fmla="*/ 0 w 118"/>
              <a:gd name="T5" fmla="*/ 23 h 1072"/>
              <a:gd name="T6" fmla="*/ 15 w 118"/>
              <a:gd name="T7" fmla="*/ 23 h 1072"/>
              <a:gd name="T8" fmla="*/ 0 w 118"/>
              <a:gd name="T9" fmla="*/ 112 h 1072"/>
              <a:gd name="T10" fmla="*/ 7 w 118"/>
              <a:gd name="T11" fmla="*/ 135 h 1072"/>
              <a:gd name="T12" fmla="*/ 15 w 118"/>
              <a:gd name="T13" fmla="*/ 112 h 1072"/>
              <a:gd name="T14" fmla="*/ 0 w 118"/>
              <a:gd name="T15" fmla="*/ 112 h 107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8"/>
              <a:gd name="T25" fmla="*/ 0 h 1072"/>
              <a:gd name="T26" fmla="*/ 118 w 118"/>
              <a:gd name="T27" fmla="*/ 1072 h 107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8" h="1072">
                <a:moveTo>
                  <a:pt x="118" y="177"/>
                </a:moveTo>
                <a:lnTo>
                  <a:pt x="59" y="0"/>
                </a:lnTo>
                <a:lnTo>
                  <a:pt x="0" y="177"/>
                </a:lnTo>
                <a:lnTo>
                  <a:pt x="118" y="177"/>
                </a:lnTo>
                <a:close/>
                <a:moveTo>
                  <a:pt x="0" y="895"/>
                </a:moveTo>
                <a:lnTo>
                  <a:pt x="59" y="1072"/>
                </a:lnTo>
                <a:lnTo>
                  <a:pt x="118" y="895"/>
                </a:lnTo>
                <a:lnTo>
                  <a:pt x="0" y="89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6" name="Line 23"/>
          <p:cNvSpPr>
            <a:spLocks noChangeShapeType="1"/>
          </p:cNvSpPr>
          <p:nvPr/>
        </p:nvSpPr>
        <p:spPr bwMode="auto">
          <a:xfrm flipH="1">
            <a:off x="1277213" y="3027984"/>
            <a:ext cx="962025" cy="7000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7" name="Freeform 24"/>
          <p:cNvSpPr>
            <a:spLocks noEditPoints="1"/>
          </p:cNvSpPr>
          <p:nvPr/>
        </p:nvSpPr>
        <p:spPr bwMode="auto">
          <a:xfrm>
            <a:off x="1172438" y="2951784"/>
            <a:ext cx="1169988" cy="852488"/>
          </a:xfrm>
          <a:custGeom>
            <a:avLst/>
            <a:gdLst>
              <a:gd name="T0" fmla="*/ 171 w 1475"/>
              <a:gd name="T1" fmla="*/ 19 h 1073"/>
              <a:gd name="T2" fmla="*/ 184 w 1475"/>
              <a:gd name="T3" fmla="*/ 0 h 1073"/>
              <a:gd name="T4" fmla="*/ 162 w 1475"/>
              <a:gd name="T5" fmla="*/ 8 h 1073"/>
              <a:gd name="T6" fmla="*/ 171 w 1475"/>
              <a:gd name="T7" fmla="*/ 19 h 1073"/>
              <a:gd name="T8" fmla="*/ 13 w 1475"/>
              <a:gd name="T9" fmla="*/ 116 h 1073"/>
              <a:gd name="T10" fmla="*/ 0 w 1475"/>
              <a:gd name="T11" fmla="*/ 135 h 1073"/>
              <a:gd name="T12" fmla="*/ 22 w 1475"/>
              <a:gd name="T13" fmla="*/ 128 h 1073"/>
              <a:gd name="T14" fmla="*/ 13 w 1475"/>
              <a:gd name="T15" fmla="*/ 116 h 107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75"/>
              <a:gd name="T25" fmla="*/ 0 h 1073"/>
              <a:gd name="T26" fmla="*/ 1475 w 1475"/>
              <a:gd name="T27" fmla="*/ 1073 h 107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75" h="1073">
                <a:moveTo>
                  <a:pt x="1368" y="152"/>
                </a:moveTo>
                <a:lnTo>
                  <a:pt x="1475" y="0"/>
                </a:lnTo>
                <a:lnTo>
                  <a:pt x="1298" y="58"/>
                </a:lnTo>
                <a:lnTo>
                  <a:pt x="1368" y="152"/>
                </a:lnTo>
                <a:close/>
                <a:moveTo>
                  <a:pt x="109" y="921"/>
                </a:moveTo>
                <a:lnTo>
                  <a:pt x="0" y="1073"/>
                </a:lnTo>
                <a:lnTo>
                  <a:pt x="179" y="1018"/>
                </a:lnTo>
                <a:lnTo>
                  <a:pt x="109" y="9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88701" y="177007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Swappable dependencies</a:t>
            </a:r>
            <a:endParaRPr lang="en-US" sz="3600" dirty="0"/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7933219" y="4016997"/>
            <a:ext cx="1276350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7977669" y="4150347"/>
            <a:ext cx="1230313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FlatFile</a:t>
            </a:r>
            <a:endParaRPr lang="en-US" dirty="0" smtClean="0">
              <a:solidFill>
                <a:srgbClr val="000000"/>
              </a:solidFill>
              <a:latin typeface="Arial" charset="0"/>
            </a:endParaRPr>
          </a:p>
          <a:p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PersonDAO</a:t>
            </a:r>
            <a:endParaRPr lang="en-US" dirty="0"/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6229831" y="3804272"/>
            <a:ext cx="1277938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11"/>
          <p:cNvSpPr>
            <a:spLocks noChangeArrowheads="1"/>
          </p:cNvSpPr>
          <p:nvPr/>
        </p:nvSpPr>
        <p:spPr bwMode="auto">
          <a:xfrm>
            <a:off x="6350481" y="3932860"/>
            <a:ext cx="98745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  </a:t>
            </a:r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FlatFile</a:t>
            </a:r>
            <a:endParaRPr lang="en-US" dirty="0" smtClean="0">
              <a:solidFill>
                <a:srgbClr val="000000"/>
              </a:solidFill>
              <a:latin typeface="Arial" charset="0"/>
            </a:endParaRPr>
          </a:p>
          <a:p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UserDAO</a:t>
            </a:r>
            <a:endParaRPr lang="en-US" dirty="0"/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9635020" y="3804272"/>
            <a:ext cx="1277938" cy="850900"/>
          </a:xfrm>
          <a:prstGeom prst="rect">
            <a:avLst/>
          </a:prstGeom>
          <a:solidFill>
            <a:srgbClr val="CDCDCD"/>
          </a:solidFill>
          <a:ln w="269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9739795" y="3951910"/>
            <a:ext cx="1090613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Arial" charset="0"/>
              </a:rPr>
              <a:t>  </a:t>
            </a:r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FlatFile</a:t>
            </a:r>
            <a:endParaRPr lang="en-US" dirty="0" smtClean="0">
              <a:solidFill>
                <a:srgbClr val="000000"/>
              </a:solidFill>
              <a:latin typeface="Arial" charset="0"/>
            </a:endParaRPr>
          </a:p>
          <a:p>
            <a:r>
              <a:rPr lang="en-US" dirty="0" err="1" smtClean="0">
                <a:solidFill>
                  <a:srgbClr val="000000"/>
                </a:solidFill>
                <a:latin typeface="Arial" charset="0"/>
              </a:rPr>
              <a:t>EventDAO</a:t>
            </a:r>
            <a:endParaRPr lang="en-US" dirty="0"/>
          </a:p>
        </p:txBody>
      </p:sp>
      <p:sp>
        <p:nvSpPr>
          <p:cNvPr id="38" name="Freeform 14"/>
          <p:cNvSpPr>
            <a:spLocks/>
          </p:cNvSpPr>
          <p:nvPr/>
        </p:nvSpPr>
        <p:spPr bwMode="auto">
          <a:xfrm>
            <a:off x="7880832" y="1783385"/>
            <a:ext cx="1382713" cy="1381125"/>
          </a:xfrm>
          <a:custGeom>
            <a:avLst/>
            <a:gdLst>
              <a:gd name="T0" fmla="*/ 1 w 1742"/>
              <a:gd name="T1" fmla="*/ 99 h 1742"/>
              <a:gd name="T2" fmla="*/ 3 w 1742"/>
              <a:gd name="T3" fmla="*/ 79 h 1742"/>
              <a:gd name="T4" fmla="*/ 11 w 1742"/>
              <a:gd name="T5" fmla="*/ 61 h 1742"/>
              <a:gd name="T6" fmla="*/ 21 w 1742"/>
              <a:gd name="T7" fmla="*/ 44 h 1742"/>
              <a:gd name="T8" fmla="*/ 34 w 1742"/>
              <a:gd name="T9" fmla="*/ 30 h 1742"/>
              <a:gd name="T10" fmla="*/ 49 w 1742"/>
              <a:gd name="T11" fmla="*/ 17 h 1742"/>
              <a:gd name="T12" fmla="*/ 67 w 1742"/>
              <a:gd name="T13" fmla="*/ 8 h 1742"/>
              <a:gd name="T14" fmla="*/ 85 w 1742"/>
              <a:gd name="T15" fmla="*/ 2 h 1742"/>
              <a:gd name="T16" fmla="*/ 105 w 1742"/>
              <a:gd name="T17" fmla="*/ 0 h 1742"/>
              <a:gd name="T18" fmla="*/ 123 w 1742"/>
              <a:gd name="T19" fmla="*/ 1 h 1742"/>
              <a:gd name="T20" fmla="*/ 143 w 1742"/>
              <a:gd name="T21" fmla="*/ 5 h 1742"/>
              <a:gd name="T22" fmla="*/ 161 w 1742"/>
              <a:gd name="T23" fmla="*/ 13 h 1742"/>
              <a:gd name="T24" fmla="*/ 177 w 1742"/>
              <a:gd name="T25" fmla="*/ 23 h 1742"/>
              <a:gd name="T26" fmla="*/ 191 w 1742"/>
              <a:gd name="T27" fmla="*/ 37 h 1742"/>
              <a:gd name="T28" fmla="*/ 203 w 1742"/>
              <a:gd name="T29" fmla="*/ 53 h 1742"/>
              <a:gd name="T30" fmla="*/ 211 w 1742"/>
              <a:gd name="T31" fmla="*/ 70 h 1742"/>
              <a:gd name="T32" fmla="*/ 216 w 1742"/>
              <a:gd name="T33" fmla="*/ 89 h 1742"/>
              <a:gd name="T34" fmla="*/ 218 w 1742"/>
              <a:gd name="T35" fmla="*/ 108 h 1742"/>
              <a:gd name="T36" fmla="*/ 216 w 1742"/>
              <a:gd name="T37" fmla="*/ 128 h 1742"/>
              <a:gd name="T38" fmla="*/ 211 w 1742"/>
              <a:gd name="T39" fmla="*/ 147 h 1742"/>
              <a:gd name="T40" fmla="*/ 203 w 1742"/>
              <a:gd name="T41" fmla="*/ 164 h 1742"/>
              <a:gd name="T42" fmla="*/ 191 w 1742"/>
              <a:gd name="T43" fmla="*/ 180 h 1742"/>
              <a:gd name="T44" fmla="*/ 177 w 1742"/>
              <a:gd name="T45" fmla="*/ 193 h 1742"/>
              <a:gd name="T46" fmla="*/ 161 w 1742"/>
              <a:gd name="T47" fmla="*/ 204 h 1742"/>
              <a:gd name="T48" fmla="*/ 143 w 1742"/>
              <a:gd name="T49" fmla="*/ 212 h 1742"/>
              <a:gd name="T50" fmla="*/ 123 w 1742"/>
              <a:gd name="T51" fmla="*/ 216 h 1742"/>
              <a:gd name="T52" fmla="*/ 105 w 1742"/>
              <a:gd name="T53" fmla="*/ 217 h 1742"/>
              <a:gd name="T54" fmla="*/ 85 w 1742"/>
              <a:gd name="T55" fmla="*/ 214 h 1742"/>
              <a:gd name="T56" fmla="*/ 67 w 1742"/>
              <a:gd name="T57" fmla="*/ 208 h 1742"/>
              <a:gd name="T58" fmla="*/ 49 w 1742"/>
              <a:gd name="T59" fmla="*/ 199 h 1742"/>
              <a:gd name="T60" fmla="*/ 34 w 1742"/>
              <a:gd name="T61" fmla="*/ 187 h 1742"/>
              <a:gd name="T62" fmla="*/ 21 w 1742"/>
              <a:gd name="T63" fmla="*/ 172 h 1742"/>
              <a:gd name="T64" fmla="*/ 11 w 1742"/>
              <a:gd name="T65" fmla="*/ 155 h 1742"/>
              <a:gd name="T66" fmla="*/ 3 w 1742"/>
              <a:gd name="T67" fmla="*/ 137 h 1742"/>
              <a:gd name="T68" fmla="*/ 1 w 1742"/>
              <a:gd name="T69" fmla="*/ 118 h 1742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742"/>
              <a:gd name="T106" fmla="*/ 0 h 1742"/>
              <a:gd name="T107" fmla="*/ 1742 w 1742"/>
              <a:gd name="T108" fmla="*/ 1742 h 1742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742" h="1742">
                <a:moveTo>
                  <a:pt x="0" y="871"/>
                </a:moveTo>
                <a:lnTo>
                  <a:pt x="3" y="792"/>
                </a:lnTo>
                <a:lnTo>
                  <a:pt x="14" y="715"/>
                </a:lnTo>
                <a:lnTo>
                  <a:pt x="30" y="639"/>
                </a:lnTo>
                <a:lnTo>
                  <a:pt x="55" y="565"/>
                </a:lnTo>
                <a:lnTo>
                  <a:pt x="85" y="492"/>
                </a:lnTo>
                <a:lnTo>
                  <a:pt x="123" y="424"/>
                </a:lnTo>
                <a:lnTo>
                  <a:pt x="166" y="358"/>
                </a:lnTo>
                <a:lnTo>
                  <a:pt x="214" y="297"/>
                </a:lnTo>
                <a:lnTo>
                  <a:pt x="268" y="242"/>
                </a:lnTo>
                <a:lnTo>
                  <a:pt x="327" y="190"/>
                </a:lnTo>
                <a:lnTo>
                  <a:pt x="391" y="143"/>
                </a:lnTo>
                <a:lnTo>
                  <a:pt x="457" y="104"/>
                </a:lnTo>
                <a:lnTo>
                  <a:pt x="529" y="70"/>
                </a:lnTo>
                <a:lnTo>
                  <a:pt x="602" y="41"/>
                </a:lnTo>
                <a:lnTo>
                  <a:pt x="677" y="22"/>
                </a:lnTo>
                <a:lnTo>
                  <a:pt x="754" y="8"/>
                </a:lnTo>
                <a:lnTo>
                  <a:pt x="833" y="0"/>
                </a:lnTo>
                <a:lnTo>
                  <a:pt x="909" y="0"/>
                </a:lnTo>
                <a:lnTo>
                  <a:pt x="988" y="8"/>
                </a:lnTo>
                <a:lnTo>
                  <a:pt x="1065" y="22"/>
                </a:lnTo>
                <a:lnTo>
                  <a:pt x="1140" y="41"/>
                </a:lnTo>
                <a:lnTo>
                  <a:pt x="1213" y="70"/>
                </a:lnTo>
                <a:lnTo>
                  <a:pt x="1283" y="104"/>
                </a:lnTo>
                <a:lnTo>
                  <a:pt x="1351" y="143"/>
                </a:lnTo>
                <a:lnTo>
                  <a:pt x="1413" y="190"/>
                </a:lnTo>
                <a:lnTo>
                  <a:pt x="1472" y="242"/>
                </a:lnTo>
                <a:lnTo>
                  <a:pt x="1526" y="297"/>
                </a:lnTo>
                <a:lnTo>
                  <a:pt x="1576" y="358"/>
                </a:lnTo>
                <a:lnTo>
                  <a:pt x="1619" y="424"/>
                </a:lnTo>
                <a:lnTo>
                  <a:pt x="1657" y="492"/>
                </a:lnTo>
                <a:lnTo>
                  <a:pt x="1687" y="565"/>
                </a:lnTo>
                <a:lnTo>
                  <a:pt x="1710" y="639"/>
                </a:lnTo>
                <a:lnTo>
                  <a:pt x="1728" y="715"/>
                </a:lnTo>
                <a:lnTo>
                  <a:pt x="1739" y="792"/>
                </a:lnTo>
                <a:lnTo>
                  <a:pt x="1742" y="871"/>
                </a:lnTo>
                <a:lnTo>
                  <a:pt x="1739" y="950"/>
                </a:lnTo>
                <a:lnTo>
                  <a:pt x="1728" y="1026"/>
                </a:lnTo>
                <a:lnTo>
                  <a:pt x="1710" y="1103"/>
                </a:lnTo>
                <a:lnTo>
                  <a:pt x="1687" y="1177"/>
                </a:lnTo>
                <a:lnTo>
                  <a:pt x="1657" y="1248"/>
                </a:lnTo>
                <a:lnTo>
                  <a:pt x="1619" y="1318"/>
                </a:lnTo>
                <a:lnTo>
                  <a:pt x="1576" y="1382"/>
                </a:lnTo>
                <a:lnTo>
                  <a:pt x="1526" y="1445"/>
                </a:lnTo>
                <a:lnTo>
                  <a:pt x="1472" y="1500"/>
                </a:lnTo>
                <a:lnTo>
                  <a:pt x="1413" y="1552"/>
                </a:lnTo>
                <a:lnTo>
                  <a:pt x="1351" y="1599"/>
                </a:lnTo>
                <a:lnTo>
                  <a:pt x="1283" y="1638"/>
                </a:lnTo>
                <a:lnTo>
                  <a:pt x="1213" y="1672"/>
                </a:lnTo>
                <a:lnTo>
                  <a:pt x="1140" y="1700"/>
                </a:lnTo>
                <a:lnTo>
                  <a:pt x="1065" y="1720"/>
                </a:lnTo>
                <a:lnTo>
                  <a:pt x="988" y="1734"/>
                </a:lnTo>
                <a:lnTo>
                  <a:pt x="909" y="1742"/>
                </a:lnTo>
                <a:lnTo>
                  <a:pt x="833" y="1742"/>
                </a:lnTo>
                <a:lnTo>
                  <a:pt x="754" y="1734"/>
                </a:lnTo>
                <a:lnTo>
                  <a:pt x="677" y="1720"/>
                </a:lnTo>
                <a:lnTo>
                  <a:pt x="602" y="1700"/>
                </a:lnTo>
                <a:lnTo>
                  <a:pt x="529" y="1672"/>
                </a:lnTo>
                <a:lnTo>
                  <a:pt x="457" y="1638"/>
                </a:lnTo>
                <a:lnTo>
                  <a:pt x="391" y="1599"/>
                </a:lnTo>
                <a:lnTo>
                  <a:pt x="327" y="1552"/>
                </a:lnTo>
                <a:lnTo>
                  <a:pt x="268" y="1500"/>
                </a:lnTo>
                <a:lnTo>
                  <a:pt x="214" y="1445"/>
                </a:lnTo>
                <a:lnTo>
                  <a:pt x="166" y="1382"/>
                </a:lnTo>
                <a:lnTo>
                  <a:pt x="123" y="1318"/>
                </a:lnTo>
                <a:lnTo>
                  <a:pt x="85" y="1248"/>
                </a:lnTo>
                <a:lnTo>
                  <a:pt x="55" y="1177"/>
                </a:lnTo>
                <a:lnTo>
                  <a:pt x="30" y="1103"/>
                </a:lnTo>
                <a:lnTo>
                  <a:pt x="14" y="1026"/>
                </a:lnTo>
                <a:lnTo>
                  <a:pt x="3" y="950"/>
                </a:lnTo>
                <a:lnTo>
                  <a:pt x="0" y="871"/>
                </a:lnTo>
                <a:close/>
              </a:path>
            </a:pathLst>
          </a:custGeom>
          <a:solidFill>
            <a:srgbClr val="FFC000"/>
          </a:solidFill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15"/>
          <p:cNvSpPr>
            <a:spLocks noChangeArrowheads="1"/>
          </p:cNvSpPr>
          <p:nvPr/>
        </p:nvSpPr>
        <p:spPr bwMode="auto">
          <a:xfrm>
            <a:off x="8229939" y="2312365"/>
            <a:ext cx="68608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100" dirty="0" smtClean="0">
                <a:solidFill>
                  <a:srgbClr val="000000"/>
                </a:solidFill>
                <a:latin typeface="Arial" charset="0"/>
              </a:rPr>
              <a:t>Client</a:t>
            </a:r>
            <a:endParaRPr lang="en-US" dirty="0"/>
          </a:p>
        </p:txBody>
      </p:sp>
      <p:sp>
        <p:nvSpPr>
          <p:cNvPr id="40" name="Line 19"/>
          <p:cNvSpPr>
            <a:spLocks noChangeShapeType="1"/>
          </p:cNvSpPr>
          <p:nvPr/>
        </p:nvSpPr>
        <p:spPr bwMode="auto">
          <a:xfrm>
            <a:off x="9207982" y="3027985"/>
            <a:ext cx="962025" cy="7000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 20"/>
          <p:cNvSpPr>
            <a:spLocks noEditPoints="1"/>
          </p:cNvSpPr>
          <p:nvPr/>
        </p:nvSpPr>
        <p:spPr bwMode="auto">
          <a:xfrm>
            <a:off x="9103207" y="2951785"/>
            <a:ext cx="1171575" cy="852488"/>
          </a:xfrm>
          <a:custGeom>
            <a:avLst/>
            <a:gdLst>
              <a:gd name="T0" fmla="*/ 14 w 1475"/>
              <a:gd name="T1" fmla="*/ 19 h 1073"/>
              <a:gd name="T2" fmla="*/ 0 w 1475"/>
              <a:gd name="T3" fmla="*/ 0 h 1073"/>
              <a:gd name="T4" fmla="*/ 23 w 1475"/>
              <a:gd name="T5" fmla="*/ 8 h 1073"/>
              <a:gd name="T6" fmla="*/ 14 w 1475"/>
              <a:gd name="T7" fmla="*/ 19 h 1073"/>
              <a:gd name="T8" fmla="*/ 171 w 1475"/>
              <a:gd name="T9" fmla="*/ 116 h 1073"/>
              <a:gd name="T10" fmla="*/ 185 w 1475"/>
              <a:gd name="T11" fmla="*/ 135 h 1073"/>
              <a:gd name="T12" fmla="*/ 163 w 1475"/>
              <a:gd name="T13" fmla="*/ 128 h 1073"/>
              <a:gd name="T14" fmla="*/ 171 w 1475"/>
              <a:gd name="T15" fmla="*/ 116 h 107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75"/>
              <a:gd name="T25" fmla="*/ 0 h 1073"/>
              <a:gd name="T26" fmla="*/ 1475 w 1475"/>
              <a:gd name="T27" fmla="*/ 1073 h 107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75" h="1073">
                <a:moveTo>
                  <a:pt x="109" y="152"/>
                </a:moveTo>
                <a:lnTo>
                  <a:pt x="0" y="0"/>
                </a:lnTo>
                <a:lnTo>
                  <a:pt x="179" y="58"/>
                </a:lnTo>
                <a:lnTo>
                  <a:pt x="109" y="152"/>
                </a:lnTo>
                <a:close/>
                <a:moveTo>
                  <a:pt x="1368" y="921"/>
                </a:moveTo>
                <a:lnTo>
                  <a:pt x="1475" y="1073"/>
                </a:lnTo>
                <a:lnTo>
                  <a:pt x="1298" y="1018"/>
                </a:lnTo>
                <a:lnTo>
                  <a:pt x="1368" y="9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" name="Line 21"/>
          <p:cNvSpPr>
            <a:spLocks noChangeShapeType="1"/>
          </p:cNvSpPr>
          <p:nvPr/>
        </p:nvSpPr>
        <p:spPr bwMode="auto">
          <a:xfrm>
            <a:off x="8571394" y="3294685"/>
            <a:ext cx="1588" cy="59372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 22"/>
          <p:cNvSpPr>
            <a:spLocks noEditPoints="1"/>
          </p:cNvSpPr>
          <p:nvPr/>
        </p:nvSpPr>
        <p:spPr bwMode="auto">
          <a:xfrm>
            <a:off x="8525357" y="3164510"/>
            <a:ext cx="93663" cy="852488"/>
          </a:xfrm>
          <a:custGeom>
            <a:avLst/>
            <a:gdLst>
              <a:gd name="T0" fmla="*/ 15 w 118"/>
              <a:gd name="T1" fmla="*/ 23 h 1072"/>
              <a:gd name="T2" fmla="*/ 7 w 118"/>
              <a:gd name="T3" fmla="*/ 0 h 1072"/>
              <a:gd name="T4" fmla="*/ 0 w 118"/>
              <a:gd name="T5" fmla="*/ 23 h 1072"/>
              <a:gd name="T6" fmla="*/ 15 w 118"/>
              <a:gd name="T7" fmla="*/ 23 h 1072"/>
              <a:gd name="T8" fmla="*/ 0 w 118"/>
              <a:gd name="T9" fmla="*/ 112 h 1072"/>
              <a:gd name="T10" fmla="*/ 7 w 118"/>
              <a:gd name="T11" fmla="*/ 135 h 1072"/>
              <a:gd name="T12" fmla="*/ 15 w 118"/>
              <a:gd name="T13" fmla="*/ 112 h 1072"/>
              <a:gd name="T14" fmla="*/ 0 w 118"/>
              <a:gd name="T15" fmla="*/ 112 h 107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8"/>
              <a:gd name="T25" fmla="*/ 0 h 1072"/>
              <a:gd name="T26" fmla="*/ 118 w 118"/>
              <a:gd name="T27" fmla="*/ 1072 h 107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8" h="1072">
                <a:moveTo>
                  <a:pt x="118" y="177"/>
                </a:moveTo>
                <a:lnTo>
                  <a:pt x="59" y="0"/>
                </a:lnTo>
                <a:lnTo>
                  <a:pt x="0" y="177"/>
                </a:lnTo>
                <a:lnTo>
                  <a:pt x="118" y="177"/>
                </a:lnTo>
                <a:close/>
                <a:moveTo>
                  <a:pt x="0" y="895"/>
                </a:moveTo>
                <a:lnTo>
                  <a:pt x="59" y="1072"/>
                </a:lnTo>
                <a:lnTo>
                  <a:pt x="118" y="895"/>
                </a:lnTo>
                <a:lnTo>
                  <a:pt x="0" y="89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" name="Line 23"/>
          <p:cNvSpPr>
            <a:spLocks noChangeShapeType="1"/>
          </p:cNvSpPr>
          <p:nvPr/>
        </p:nvSpPr>
        <p:spPr bwMode="auto">
          <a:xfrm flipH="1">
            <a:off x="6974369" y="3027985"/>
            <a:ext cx="962025" cy="7000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24"/>
          <p:cNvSpPr>
            <a:spLocks noEditPoints="1"/>
          </p:cNvSpPr>
          <p:nvPr/>
        </p:nvSpPr>
        <p:spPr bwMode="auto">
          <a:xfrm>
            <a:off x="6869594" y="2951785"/>
            <a:ext cx="1169988" cy="852488"/>
          </a:xfrm>
          <a:custGeom>
            <a:avLst/>
            <a:gdLst>
              <a:gd name="T0" fmla="*/ 171 w 1475"/>
              <a:gd name="T1" fmla="*/ 19 h 1073"/>
              <a:gd name="T2" fmla="*/ 184 w 1475"/>
              <a:gd name="T3" fmla="*/ 0 h 1073"/>
              <a:gd name="T4" fmla="*/ 162 w 1475"/>
              <a:gd name="T5" fmla="*/ 8 h 1073"/>
              <a:gd name="T6" fmla="*/ 171 w 1475"/>
              <a:gd name="T7" fmla="*/ 19 h 1073"/>
              <a:gd name="T8" fmla="*/ 13 w 1475"/>
              <a:gd name="T9" fmla="*/ 116 h 1073"/>
              <a:gd name="T10" fmla="*/ 0 w 1475"/>
              <a:gd name="T11" fmla="*/ 135 h 1073"/>
              <a:gd name="T12" fmla="*/ 22 w 1475"/>
              <a:gd name="T13" fmla="*/ 128 h 1073"/>
              <a:gd name="T14" fmla="*/ 13 w 1475"/>
              <a:gd name="T15" fmla="*/ 116 h 107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75"/>
              <a:gd name="T25" fmla="*/ 0 h 1073"/>
              <a:gd name="T26" fmla="*/ 1475 w 1475"/>
              <a:gd name="T27" fmla="*/ 1073 h 107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75" h="1073">
                <a:moveTo>
                  <a:pt x="1368" y="152"/>
                </a:moveTo>
                <a:lnTo>
                  <a:pt x="1475" y="0"/>
                </a:lnTo>
                <a:lnTo>
                  <a:pt x="1298" y="58"/>
                </a:lnTo>
                <a:lnTo>
                  <a:pt x="1368" y="152"/>
                </a:lnTo>
                <a:close/>
                <a:moveTo>
                  <a:pt x="109" y="921"/>
                </a:moveTo>
                <a:lnTo>
                  <a:pt x="0" y="1073"/>
                </a:lnTo>
                <a:lnTo>
                  <a:pt x="179" y="1018"/>
                </a:lnTo>
                <a:lnTo>
                  <a:pt x="109" y="9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8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6070-C5F2-1849-B054-BF1D359D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Swappable dependencies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C88BBD-9E43-D345-BD68-BA7A8A74C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027" y="1339840"/>
            <a:ext cx="10059946" cy="551816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4AD11-0719-8843-9578-02681706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5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AD55-0F41-B445-8EE7-56F16A98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Swappable dependencies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F74E4-1367-264F-8637-1AC139A64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6167" y="1310270"/>
            <a:ext cx="8119665" cy="5547729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BB536-B5E0-294E-BBD2-5F0F63FC0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4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4DFF-021C-9D4B-BD47-39D022146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518"/>
            <a:ext cx="10515600" cy="1325563"/>
          </a:xfrm>
        </p:spPr>
        <p:txBody>
          <a:bodyPr/>
          <a:lstStyle/>
          <a:p>
            <a:r>
              <a:rPr lang="en-US" dirty="0"/>
              <a:t>How Does the Client Get </a:t>
            </a:r>
            <a:r>
              <a:rPr lang="en-US" dirty="0" smtClean="0"/>
              <a:t>Its </a:t>
            </a:r>
            <a:r>
              <a:rPr lang="en-US" dirty="0"/>
              <a:t>Factory?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9A20-AE68-AF49-B482-A327F88B4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725"/>
            <a:ext cx="10515600" cy="2706904"/>
          </a:xfrm>
        </p:spPr>
        <p:txBody>
          <a:bodyPr/>
          <a:lstStyle/>
          <a:p>
            <a:r>
              <a:rPr lang="en-US" dirty="0" smtClean="0"/>
              <a:t>Through constructor</a:t>
            </a:r>
          </a:p>
          <a:p>
            <a:pPr marL="457200" lvl="1" indent="0">
              <a:buNone/>
            </a:pPr>
            <a:r>
              <a:rPr lang="en-US" b="1" dirty="0"/>
              <a:t>public </a:t>
            </a:r>
            <a:r>
              <a:rPr lang="en-US" dirty="0"/>
              <a:t>Client(</a:t>
            </a:r>
            <a:r>
              <a:rPr lang="en-US" dirty="0" err="1"/>
              <a:t>DAOFactory</a:t>
            </a:r>
            <a:r>
              <a:rPr lang="en-US" dirty="0"/>
              <a:t> </a:t>
            </a:r>
            <a:r>
              <a:rPr lang="en-US" dirty="0" err="1"/>
              <a:t>daoFactory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this</a:t>
            </a:r>
            <a:r>
              <a:rPr lang="en-US" dirty="0" err="1"/>
              <a:t>.</a:t>
            </a:r>
            <a:r>
              <a:rPr lang="en-US" b="1" dirty="0" err="1"/>
              <a:t>daoFactory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err="1"/>
              <a:t>daoFactory</a:t>
            </a:r>
            <a:r>
              <a:rPr lang="en-US" dirty="0" smtClean="0"/>
              <a:t>;</a:t>
            </a:r>
          </a:p>
          <a:p>
            <a:pPr marL="457200" lvl="1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From Singleton class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DA0C0-AFA6-9C4C-95AF-3747DF64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7031" y="2934825"/>
            <a:ext cx="647805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abstract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DAOFactory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private static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DAOFactory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instance;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setInstance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DAOFactory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value)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instance = value;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DAOFactory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getInstance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instance;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abstract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createUserDAO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abstract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createPersonDAO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abstract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createEventDAO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07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12"/>
            <a:ext cx="10515600" cy="1325563"/>
          </a:xfrm>
        </p:spPr>
        <p:txBody>
          <a:bodyPr/>
          <a:lstStyle/>
          <a:p>
            <a:r>
              <a:rPr lang="en-US" dirty="0" smtClean="0"/>
              <a:t>Singleton Factory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12995" y="1076230"/>
            <a:ext cx="6756978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SQLDAOFactory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DAOFactory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@Override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abstract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createUserDAO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SQLUserDAO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@Override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abstract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createPersonDAO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SQLPersonDAO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@Override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abstract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createEventDAO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SQLEventDAO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	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DAOFactory.setInstance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SQLDAOFactory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89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FD0-5152-B94C-B9B2-2F3FAEFB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Client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0C379-72B8-6646-ABE1-20500C7ED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public class </a:t>
            </a:r>
            <a:r>
              <a:rPr lang="en-US" dirty="0"/>
              <a:t>Client {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 smtClean="0"/>
              <a:t>private </a:t>
            </a:r>
            <a:r>
              <a:rPr lang="en-US" dirty="0" err="1" smtClean="0"/>
              <a:t>UserDAO</a:t>
            </a:r>
            <a:r>
              <a:rPr lang="en-US" dirty="0" smtClean="0"/>
              <a:t> </a:t>
            </a:r>
            <a:r>
              <a:rPr lang="en-US" b="1" dirty="0" err="1"/>
              <a:t>userDAO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 smtClean="0"/>
              <a:t>PersonDAO</a:t>
            </a:r>
            <a:r>
              <a:rPr lang="en-US" dirty="0" smtClean="0"/>
              <a:t> </a:t>
            </a:r>
            <a:r>
              <a:rPr lang="en-US" b="1" dirty="0" err="1"/>
              <a:t>personDAO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private </a:t>
            </a:r>
            <a:r>
              <a:rPr lang="en-US" dirty="0" err="1" smtClean="0"/>
              <a:t>EventDAO</a:t>
            </a:r>
            <a:r>
              <a:rPr lang="en-US" dirty="0" smtClean="0"/>
              <a:t> </a:t>
            </a:r>
            <a:r>
              <a:rPr lang="en-US" b="1" dirty="0" err="1"/>
              <a:t>eventDAO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public </a:t>
            </a:r>
            <a:r>
              <a:rPr lang="en-US" dirty="0"/>
              <a:t>Client</a:t>
            </a:r>
            <a:r>
              <a:rPr lang="en-US" dirty="0" smtClean="0"/>
              <a:t>()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b="1" dirty="0" err="1" smtClean="0"/>
              <a:t>userDAO</a:t>
            </a:r>
            <a:r>
              <a:rPr lang="en-US" b="1" dirty="0" smtClean="0"/>
              <a:t> </a:t>
            </a:r>
            <a:r>
              <a:rPr lang="en-US" dirty="0"/>
              <a:t>= </a:t>
            </a:r>
            <a:r>
              <a:rPr lang="en-US" dirty="0" err="1" smtClean="0"/>
              <a:t>D</a:t>
            </a:r>
            <a:r>
              <a:rPr lang="en-US" dirty="0" err="1" smtClean="0"/>
              <a:t>aoFactory.getInstance</a:t>
            </a:r>
            <a:r>
              <a:rPr lang="en-US" dirty="0" smtClean="0"/>
              <a:t>().</a:t>
            </a:r>
            <a:r>
              <a:rPr lang="en-US" dirty="0" err="1" smtClean="0"/>
              <a:t>getUserDAO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personDAO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err="1"/>
              <a:t>DaoFactory.getInstance</a:t>
            </a:r>
            <a:r>
              <a:rPr lang="en-US" dirty="0"/>
              <a:t>().</a:t>
            </a:r>
            <a:r>
              <a:rPr lang="en-US" dirty="0" err="1" smtClean="0"/>
              <a:t>getPersonDAO</a:t>
            </a:r>
            <a:r>
              <a:rPr lang="en-US" dirty="0" smtClean="0"/>
              <a:t>();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 err="1"/>
              <a:t>eventDAO</a:t>
            </a:r>
            <a:r>
              <a:rPr lang="en-US" b="1" dirty="0"/>
              <a:t> </a:t>
            </a:r>
            <a:r>
              <a:rPr lang="en-US" dirty="0"/>
              <a:t>= </a:t>
            </a:r>
            <a:r>
              <a:rPr lang="en-US" dirty="0" err="1"/>
              <a:t>DaoFactory.getInstance</a:t>
            </a:r>
            <a:r>
              <a:rPr lang="en-US" dirty="0"/>
              <a:t>().</a:t>
            </a:r>
            <a:r>
              <a:rPr lang="en-US" dirty="0" err="1"/>
              <a:t>getEventDAO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2A4BC-10EA-8648-98C8-1D04E5D9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6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A07-35EF-C840-954D-F5A9F6C84A21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37" y="489473"/>
            <a:ext cx="10851463" cy="526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3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600</Words>
  <Application>Microsoft Office PowerPoint</Application>
  <PresentationFormat>Widescreen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Designing for Testability *Abstract Factory*</vt:lpstr>
      <vt:lpstr>Testing with “fake” dependencies</vt:lpstr>
      <vt:lpstr>Testing with “fake” dependencies</vt:lpstr>
      <vt:lpstr>Sample Client Code</vt:lpstr>
      <vt:lpstr>Sample Client Code</vt:lpstr>
      <vt:lpstr>Sample Client Code</vt:lpstr>
      <vt:lpstr>PowerPoint Presentation</vt:lpstr>
      <vt:lpstr>Sample Client Code</vt:lpstr>
      <vt:lpstr>Swappable dependencies</vt:lpstr>
      <vt:lpstr>Swappable dependencies</vt:lpstr>
      <vt:lpstr>Swappable dependencies</vt:lpstr>
      <vt:lpstr>How Does the Client Get Its Factory?</vt:lpstr>
      <vt:lpstr>Singleton Factory</vt:lpstr>
      <vt:lpstr>Sample Client 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Factory</dc:title>
  <dc:creator>Jerod Wilkerson</dc:creator>
  <cp:lastModifiedBy>ken.rodham@gmail.com</cp:lastModifiedBy>
  <cp:revision>31</cp:revision>
  <dcterms:created xsi:type="dcterms:W3CDTF">2018-11-12T21:16:18Z</dcterms:created>
  <dcterms:modified xsi:type="dcterms:W3CDTF">2021-06-02T21:34:45Z</dcterms:modified>
</cp:coreProperties>
</file>