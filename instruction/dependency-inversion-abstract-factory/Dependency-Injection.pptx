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91" r:id="rId3"/>
    <p:sldId id="288" r:id="rId4"/>
    <p:sldId id="290" r:id="rId5"/>
    <p:sldId id="292" r:id="rId6"/>
    <p:sldId id="279" r:id="rId7"/>
    <p:sldId id="293" r:id="rId8"/>
    <p:sldId id="295" r:id="rId9"/>
    <p:sldId id="294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8"/>
    <p:restoredTop sz="94617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FAEF3-F28B-EB46-9E81-1432232A252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8788C-E0E4-B144-9353-59D7B9131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9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C370-D407-2945-96A9-688699221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36E60-35A7-E449-B13E-6BBADDDB6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E13CB-968E-1647-8A61-DB2ADCA1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E2C9-2876-7343-BAFE-41C7650452B6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6708D-7C55-F44C-9D6D-7B32DEF9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799A7-7DC8-5249-8879-B8A2A48E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76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DB7B-4EEB-1B4A-B269-69612FCB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1AD07-A466-2C48-8894-CA4F0126E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36954-2AF2-704E-B06D-7693E7FC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4B03-1EAB-5B4C-A384-14AE9E27E45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7B233-0302-7448-B8E2-2122772D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3FABF-81E0-CC48-B3A1-FCF0BA8C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6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6C13-B75B-934C-BC5D-460E4EE42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5DBC3-37E5-2E40-8AA5-523B20E16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35AAC-ABE4-C34D-9709-D39FB010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CE46-3C9F-EC4E-9E40-6337F071FB22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F9D1E-7ABA-7044-9555-8663385E6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40739-DF1A-BC42-951A-65CB4503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7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34186-2C22-A547-A6D6-FC6C1F22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C8C87-980F-BB44-92E7-7D75CE0E1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95CE2-7FC8-3445-8A1C-E8C96BCDE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E9524-1900-9648-AE56-C3384F18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2D5C-72EB-EF4A-948D-2C0AB7ABE7AF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81464-1ABB-624E-AB55-B8B03E09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C5A68-D71D-064B-9228-445938CC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4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C723-0F6A-C34F-AADA-847EC636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789A3-B610-5A46-A308-BFBB39F5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EBD24-BC79-424B-9CCF-D5CAA8066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039EC-1378-B44E-8F4E-3EA44DA05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FBADD-A4C9-1C40-9986-007107CF7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9A07B4-8555-7248-87A5-8372DEED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F873B-1496-1343-87D2-4B6F5E636C3B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D215B-83C6-2E4B-A2C2-79AE71E0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0154A-4B95-6146-A2ED-C8671BCF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6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1E70-9A46-5345-8F2F-3212C53F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6F2E9-E495-2147-961E-1E296C9F8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48EB-40E7-8746-8287-F6882CB7C999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13432-C69E-AF43-83D1-6DC49FBB1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60814-44F6-CB41-A35E-68944927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21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533BC-FE0F-D04D-8B6D-041604FF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F2080-90DC-3F4D-B4EB-BD17975CEF10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9D802-935E-9D41-AAD4-ED71F4F1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255A-1421-CF44-9E13-07FEAEDB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0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F4DF-8340-1247-92C0-511164E0F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3411B-8B23-D04E-A5CA-861FF6CB3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9E6ED-789E-7B47-965F-0E4DE859D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915F1-57F7-444C-9297-6A7A1A23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F9C-D66E-B440-82C2-8495A9E09D21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13BA2-7B8C-C94C-A559-67524213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0BFF-0470-6C47-AA8C-CB3CD2B2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3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CE27-63D1-FA4D-941E-82372BFB9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6B98B-66B7-7447-835F-42C2A0A94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38A8F-C053-8943-8A8C-3DC9EF3CE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3FE92-A98F-A04E-8BE2-7E027EBC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476E2-933F-3143-AED6-AF6ECD2A0F90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E1B05-6FB2-7649-A4C5-404CC371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3FAFB-C70E-D547-AF2C-1FE96F04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1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AEA6-E56C-9048-8BBA-3FA3CA005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06318-F3DB-4B4E-91BD-72C5EB3A7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10CDF-9775-B54A-A1C7-CA2B0277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15C3-7DF8-A64C-87E8-A5C4CFC9482A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0959D-825C-DE44-90A3-5A5D79CC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68FEF-9CE8-3243-872B-7C0F70D2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9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DBB04-E5B2-B543-9076-E50D65462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030F-8173-B142-BE1D-E38759E38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57B5B-F27D-B549-89AD-E9E76BD3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C862-2876-2347-A72B-F9C9B40515A9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C12B7-68B2-444E-8199-33DC9E79C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6F35-1484-FD4C-823D-5929561F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5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646E0-5CD7-5E44-AC53-5ECC0B1C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CFEB-C73A-314B-BD70-947022CAA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329E4-D07A-7741-807D-AEFD5010F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E48A6-61C5-5944-A5FE-D6C50304BB6B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58974-0306-974F-A89F-A4BF7EC73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3EBFD-B1C5-2445-98AD-A7B4D3492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1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B751-B24C-A148-B3DE-A01FB5EF9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Designing for Testability</a:t>
            </a:r>
            <a:br>
              <a:rPr lang="en-US" dirty="0"/>
            </a:br>
            <a:r>
              <a:rPr lang="en-US" dirty="0"/>
              <a:t>*Dependency Injection*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AAAB5-B157-2247-B32D-DACC965ABA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6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820312" y="3376516"/>
            <a:ext cx="25925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new B();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m()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(1,”hi”);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Dependency </a:t>
            </a:r>
            <a:r>
              <a:rPr lang="en-US" u="sng" dirty="0"/>
              <a:t>Inversion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0312" y="1943656"/>
            <a:ext cx="1606378" cy="113064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433269" y="2794628"/>
            <a:ext cx="1340708" cy="6179"/>
          </a:xfrm>
          <a:prstGeom prst="straightConnector1">
            <a:avLst/>
          </a:prstGeom>
          <a:ln w="38100">
            <a:solidFill>
              <a:srgbClr val="92D05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67397" y="1934619"/>
            <a:ext cx="1606378" cy="113064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426689" y="2254910"/>
            <a:ext cx="1340708" cy="6179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143935" y="5366377"/>
            <a:ext cx="1340708" cy="6179"/>
          </a:xfrm>
          <a:prstGeom prst="straightConnector1">
            <a:avLst/>
          </a:prstGeom>
          <a:ln w="38100">
            <a:solidFill>
              <a:srgbClr val="92D05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4643" y="5181711"/>
            <a:ext cx="2944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Behavior dependency</a:t>
            </a:r>
          </a:p>
          <a:p>
            <a:r>
              <a:rPr lang="en-US" dirty="0"/>
              <a:t>[inherent, often unavoidable]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143935" y="4199961"/>
            <a:ext cx="1340708" cy="6179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4643" y="3950527"/>
            <a:ext cx="2932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dependency</a:t>
            </a:r>
          </a:p>
          <a:p>
            <a:r>
              <a:rPr lang="en-US" dirty="0"/>
              <a:t>[can be inverted if necessary]</a:t>
            </a:r>
          </a:p>
        </p:txBody>
      </p:sp>
      <p:sp>
        <p:nvSpPr>
          <p:cNvPr id="15" name="Oval 14"/>
          <p:cNvSpPr/>
          <p:nvPr/>
        </p:nvSpPr>
        <p:spPr>
          <a:xfrm>
            <a:off x="2110431" y="3707125"/>
            <a:ext cx="289450" cy="243402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595020" y="4652375"/>
            <a:ext cx="127201" cy="115118"/>
          </a:xfrm>
          <a:prstGeom prst="ellipse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741444" y="4514407"/>
            <a:ext cx="1178826" cy="275935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>
            <a:stCxn id="15" idx="5"/>
          </p:cNvCxnSpPr>
          <p:nvPr/>
        </p:nvCxnSpPr>
        <p:spPr>
          <a:xfrm>
            <a:off x="2357492" y="3914882"/>
            <a:ext cx="1786443" cy="281039"/>
          </a:xfrm>
          <a:prstGeom prst="line">
            <a:avLst/>
          </a:prstGeom>
          <a:ln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340593" y="4206140"/>
            <a:ext cx="803342" cy="308267"/>
          </a:xfrm>
          <a:prstGeom prst="line">
            <a:avLst/>
          </a:prstGeom>
          <a:ln>
            <a:solidFill>
              <a:srgbClr val="C0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7" idx="4"/>
          </p:cNvCxnSpPr>
          <p:nvPr/>
        </p:nvCxnSpPr>
        <p:spPr>
          <a:xfrm>
            <a:off x="2658621" y="4767493"/>
            <a:ext cx="1485314" cy="605417"/>
          </a:xfrm>
          <a:prstGeom prst="line">
            <a:avLst/>
          </a:prstGeom>
          <a:ln>
            <a:solidFill>
              <a:srgbClr val="92D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71649" y="3714494"/>
            <a:ext cx="289450" cy="243402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>
            <a:off x="3654124" y="3968115"/>
            <a:ext cx="489811" cy="231846"/>
          </a:xfrm>
          <a:prstGeom prst="line">
            <a:avLst/>
          </a:prstGeom>
          <a:ln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14482" y="1753569"/>
            <a:ext cx="43240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void x(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string s)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……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2355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043" y="-58865"/>
            <a:ext cx="10515600" cy="1325563"/>
          </a:xfrm>
        </p:spPr>
        <p:txBody>
          <a:bodyPr/>
          <a:lstStyle/>
          <a:p>
            <a:r>
              <a:rPr lang="en-US" dirty="0"/>
              <a:t>Review: Dependency </a:t>
            </a:r>
            <a:r>
              <a:rPr lang="en-US" u="sng" dirty="0"/>
              <a:t>Inversion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720" y="1020710"/>
            <a:ext cx="6529628" cy="127113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defines the method interface through which he will call B</a:t>
            </a:r>
          </a:p>
          <a:p>
            <a:r>
              <a:rPr lang="en-US" dirty="0"/>
              <a:t>B must implement the interface defined by A</a:t>
            </a:r>
          </a:p>
          <a:p>
            <a:r>
              <a:rPr lang="en-US" dirty="0"/>
              <a:t>This inverts (or flips) the type dependency</a:t>
            </a:r>
          </a:p>
          <a:p>
            <a:r>
              <a:rPr lang="en-US" dirty="0"/>
              <a:t>A no longer has any knowledge of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100" y="2594356"/>
            <a:ext cx="25925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b;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A(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b;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m()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(1,”hi”);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8327" y="2594356"/>
            <a:ext cx="1606378" cy="113064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061505" y="3156587"/>
            <a:ext cx="1340708" cy="6179"/>
          </a:xfrm>
          <a:prstGeom prst="straightConnector1">
            <a:avLst/>
          </a:prstGeom>
          <a:ln w="38100">
            <a:solidFill>
              <a:srgbClr val="92D05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5412" y="2585319"/>
            <a:ext cx="1606378" cy="113064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028012" y="3660327"/>
            <a:ext cx="1431982" cy="7751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55127" y="4370391"/>
            <a:ext cx="1606378" cy="10278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18914" y="4285613"/>
            <a:ext cx="1478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&lt;&lt;interface&gt;&gt;</a:t>
            </a:r>
          </a:p>
          <a:p>
            <a:r>
              <a:rPr lang="en-US" dirty="0"/>
              <a:t>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  <p:cxnSp>
        <p:nvCxnSpPr>
          <p:cNvPr id="22" name="Straight Connector 21"/>
          <p:cNvCxnSpPr>
            <a:stCxn id="19" idx="1"/>
            <a:endCxn id="19" idx="3"/>
          </p:cNvCxnSpPr>
          <p:nvPr/>
        </p:nvCxnSpPr>
        <p:spPr>
          <a:xfrm>
            <a:off x="3455127" y="4884320"/>
            <a:ext cx="16063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75894" y="4899620"/>
            <a:ext cx="1764842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void x(</a:t>
            </a:r>
            <a:r>
              <a:rPr lang="en-US" dirty="0" err="1"/>
              <a:t>int</a:t>
            </a:r>
            <a:r>
              <a:rPr lang="en-US" dirty="0"/>
              <a:t>, string)</a:t>
            </a:r>
          </a:p>
        </p:txBody>
      </p:sp>
      <p:cxnSp>
        <p:nvCxnSpPr>
          <p:cNvPr id="24" name="Straight Arrow Connector 23"/>
          <p:cNvCxnSpPr>
            <a:stCxn id="5" idx="2"/>
          </p:cNvCxnSpPr>
          <p:nvPr/>
        </p:nvCxnSpPr>
        <p:spPr>
          <a:xfrm flipH="1">
            <a:off x="4258315" y="3724999"/>
            <a:ext cx="3201" cy="6467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6200000">
            <a:off x="5058157" y="4761907"/>
            <a:ext cx="292733" cy="244822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Elbow Connector 30"/>
          <p:cNvCxnSpPr>
            <a:stCxn id="29" idx="3"/>
            <a:endCxn id="7" idx="2"/>
          </p:cNvCxnSpPr>
          <p:nvPr/>
        </p:nvCxnSpPr>
        <p:spPr>
          <a:xfrm flipV="1">
            <a:off x="5326935" y="3715962"/>
            <a:ext cx="1881666" cy="1168356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73454" y="2590237"/>
            <a:ext cx="40586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B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implements 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void x(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string s)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……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490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Dependency </a:t>
            </a:r>
            <a:r>
              <a:rPr lang="en-US" u="sng" dirty="0"/>
              <a:t>Inversion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Program to abstract interfaces</a:t>
            </a:r>
            <a:r>
              <a:rPr lang="en-US" dirty="0"/>
              <a:t>, not concrete classes</a:t>
            </a:r>
          </a:p>
          <a:p>
            <a:pPr marL="0" indent="0">
              <a:buNone/>
            </a:pPr>
            <a:r>
              <a:rPr lang="en-US" dirty="0"/>
              <a:t>                                                </a:t>
            </a:r>
            <a:r>
              <a:rPr lang="en-US" sz="4000" dirty="0"/>
              <a:t>+</a:t>
            </a:r>
          </a:p>
          <a:p>
            <a:r>
              <a:rPr lang="en-US" dirty="0"/>
              <a:t>The </a:t>
            </a:r>
            <a:r>
              <a:rPr lang="en-US" u="sng" dirty="0"/>
              <a:t>CALLER defines the abstract interface </a:t>
            </a:r>
            <a:r>
              <a:rPr lang="en-US" dirty="0"/>
              <a:t>through which calls are made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171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to interfaces provides flexibility</a:t>
            </a:r>
          </a:p>
          <a:p>
            <a:pPr lvl="1"/>
            <a:r>
              <a:rPr lang="en-US" dirty="0"/>
              <a:t>Makes code testable</a:t>
            </a:r>
          </a:p>
          <a:p>
            <a:pPr lvl="1"/>
            <a:r>
              <a:rPr lang="en-US" dirty="0"/>
              <a:t>Enables swappable dependencies</a:t>
            </a:r>
          </a:p>
          <a:p>
            <a:r>
              <a:rPr lang="en-US" dirty="0"/>
              <a:t>But, if we program to interfaces, classes are not able to create their own dependency objects</a:t>
            </a:r>
          </a:p>
          <a:p>
            <a:pPr lvl="1"/>
            <a:r>
              <a:rPr lang="en-US" dirty="0"/>
              <a:t>Calling “new” is not allowed</a:t>
            </a:r>
          </a:p>
          <a:p>
            <a:r>
              <a:rPr lang="en-US" dirty="0"/>
              <a:t>How can classes obtain their dependency objects?</a:t>
            </a:r>
          </a:p>
          <a:p>
            <a:pPr lvl="1"/>
            <a:r>
              <a:rPr lang="en-US" dirty="0"/>
              <a:t>Abstract Factory</a:t>
            </a:r>
          </a:p>
          <a:p>
            <a:pPr lvl="1"/>
            <a:r>
              <a:rPr lang="en-US" dirty="0"/>
              <a:t>Dependency </a:t>
            </a:r>
            <a:r>
              <a:rPr lang="en-US" u="sng" dirty="0"/>
              <a:t>Injection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2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88701" y="177007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/>
              <a:t>EX: Dependency </a:t>
            </a:r>
            <a:r>
              <a:rPr lang="en-US" sz="3600" u="sng" dirty="0"/>
              <a:t>Inversion</a:t>
            </a:r>
            <a:r>
              <a:rPr lang="en-US" sz="3600" dirty="0"/>
              <a:t> Exercise</a:t>
            </a:r>
          </a:p>
        </p:txBody>
      </p:sp>
      <p:sp>
        <p:nvSpPr>
          <p:cNvPr id="6148" name="AutoShape 4"/>
          <p:cNvSpPr>
            <a:spLocks noChangeAspect="1" noChangeArrowheads="1" noTextEdit="1"/>
          </p:cNvSpPr>
          <p:nvPr/>
        </p:nvSpPr>
        <p:spPr bwMode="auto">
          <a:xfrm>
            <a:off x="3048001" y="1524001"/>
            <a:ext cx="6088064" cy="4811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1" name="Rectangle 8"/>
          <p:cNvSpPr>
            <a:spLocks noChangeArrowheads="1"/>
          </p:cNvSpPr>
          <p:nvPr/>
        </p:nvSpPr>
        <p:spPr bwMode="auto">
          <a:xfrm>
            <a:off x="5487644" y="3637045"/>
            <a:ext cx="1276350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2" name="Rectangle 9"/>
          <p:cNvSpPr>
            <a:spLocks noChangeArrowheads="1"/>
          </p:cNvSpPr>
          <p:nvPr/>
        </p:nvSpPr>
        <p:spPr bwMode="auto">
          <a:xfrm>
            <a:off x="5712335" y="3791675"/>
            <a:ext cx="923925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  Word</a:t>
            </a:r>
          </a:p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Extractor</a:t>
            </a:r>
            <a:endParaRPr lang="en-US" dirty="0"/>
          </a:p>
        </p:txBody>
      </p:sp>
      <p:sp>
        <p:nvSpPr>
          <p:cNvPr id="6153" name="Rectangle 10"/>
          <p:cNvSpPr>
            <a:spLocks noChangeArrowheads="1"/>
          </p:cNvSpPr>
          <p:nvPr/>
        </p:nvSpPr>
        <p:spPr bwMode="auto">
          <a:xfrm>
            <a:off x="3646072" y="3648476"/>
            <a:ext cx="1390059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4" name="Rectangle 11"/>
          <p:cNvSpPr>
            <a:spLocks noChangeArrowheads="1"/>
          </p:cNvSpPr>
          <p:nvPr/>
        </p:nvSpPr>
        <p:spPr bwMode="auto">
          <a:xfrm>
            <a:off x="3733090" y="3948514"/>
            <a:ext cx="1244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charset="0"/>
              </a:rPr>
              <a:t>URLFetcher</a:t>
            </a:r>
            <a:endParaRPr lang="en-US" dirty="0"/>
          </a:p>
        </p:txBody>
      </p:sp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7051262" y="3648476"/>
            <a:ext cx="1277938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6" name="Rectangle 13"/>
          <p:cNvSpPr>
            <a:spLocks noChangeArrowheads="1"/>
          </p:cNvSpPr>
          <p:nvPr/>
        </p:nvSpPr>
        <p:spPr bwMode="auto">
          <a:xfrm>
            <a:off x="7232237" y="3948514"/>
            <a:ext cx="10255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Dictionary</a:t>
            </a:r>
            <a:endParaRPr lang="en-US" dirty="0"/>
          </a:p>
        </p:txBody>
      </p:sp>
      <p:sp>
        <p:nvSpPr>
          <p:cNvPr id="32" name="Line 23"/>
          <p:cNvSpPr>
            <a:spLocks noChangeShapeType="1"/>
          </p:cNvSpPr>
          <p:nvPr/>
        </p:nvSpPr>
        <p:spPr bwMode="auto">
          <a:xfrm flipH="1">
            <a:off x="4302277" y="2726005"/>
            <a:ext cx="1370836" cy="92247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3" name="Line 23"/>
          <p:cNvSpPr>
            <a:spLocks noChangeShapeType="1"/>
          </p:cNvSpPr>
          <p:nvPr/>
        </p:nvSpPr>
        <p:spPr bwMode="auto">
          <a:xfrm flipH="1">
            <a:off x="6118806" y="2726004"/>
            <a:ext cx="0" cy="91104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4" name="Line 23"/>
          <p:cNvSpPr>
            <a:spLocks noChangeShapeType="1"/>
          </p:cNvSpPr>
          <p:nvPr/>
        </p:nvSpPr>
        <p:spPr bwMode="auto">
          <a:xfrm>
            <a:off x="6532323" y="2726006"/>
            <a:ext cx="1268765" cy="93120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5463749" y="1875104"/>
            <a:ext cx="1277938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5673113" y="2009541"/>
            <a:ext cx="85921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Spelling</a:t>
            </a:r>
          </a:p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Checker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283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8"/>
          <p:cNvSpPr>
            <a:spLocks noChangeArrowheads="1"/>
          </p:cNvSpPr>
          <p:nvPr/>
        </p:nvSpPr>
        <p:spPr bwMode="auto">
          <a:xfrm>
            <a:off x="5371718" y="3134315"/>
            <a:ext cx="1620959" cy="638175"/>
          </a:xfrm>
          <a:prstGeom prst="rect">
            <a:avLst/>
          </a:prstGeom>
          <a:noFill/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2" name="Rectangle 9"/>
          <p:cNvSpPr>
            <a:spLocks noChangeArrowheads="1"/>
          </p:cNvSpPr>
          <p:nvPr/>
        </p:nvSpPr>
        <p:spPr bwMode="auto">
          <a:xfrm>
            <a:off x="5438041" y="3153039"/>
            <a:ext cx="1534716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&lt;&lt;interface&gt;&gt;</a:t>
            </a:r>
          </a:p>
          <a:p>
            <a:r>
              <a:rPr lang="en-US" dirty="0" err="1">
                <a:solidFill>
                  <a:srgbClr val="000000"/>
                </a:solidFill>
                <a:latin typeface="Arial" charset="0"/>
              </a:rPr>
              <a:t>IWordExtractor</a:t>
            </a:r>
            <a:endParaRPr 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88701" y="177007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/>
              <a:t>EX: Dependency </a:t>
            </a:r>
            <a:r>
              <a:rPr lang="en-US" sz="3600" u="sng" dirty="0"/>
              <a:t>Inversion</a:t>
            </a:r>
            <a:r>
              <a:rPr lang="en-US" sz="3600" dirty="0"/>
              <a:t> Exercise</a:t>
            </a:r>
          </a:p>
        </p:txBody>
      </p:sp>
      <p:sp>
        <p:nvSpPr>
          <p:cNvPr id="6148" name="AutoShape 4"/>
          <p:cNvSpPr>
            <a:spLocks noChangeAspect="1" noChangeArrowheads="1" noTextEdit="1"/>
          </p:cNvSpPr>
          <p:nvPr/>
        </p:nvSpPr>
        <p:spPr bwMode="auto">
          <a:xfrm>
            <a:off x="3048001" y="1524001"/>
            <a:ext cx="6088064" cy="4811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3" name="Rectangle 10"/>
          <p:cNvSpPr>
            <a:spLocks noChangeArrowheads="1"/>
          </p:cNvSpPr>
          <p:nvPr/>
        </p:nvSpPr>
        <p:spPr bwMode="auto">
          <a:xfrm>
            <a:off x="3819420" y="3134316"/>
            <a:ext cx="1443039" cy="638174"/>
          </a:xfrm>
          <a:prstGeom prst="rect">
            <a:avLst/>
          </a:prstGeom>
          <a:noFill/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4" name="Rectangle 11"/>
          <p:cNvSpPr>
            <a:spLocks noChangeArrowheads="1"/>
          </p:cNvSpPr>
          <p:nvPr/>
        </p:nvSpPr>
        <p:spPr bwMode="auto">
          <a:xfrm>
            <a:off x="3864430" y="3145650"/>
            <a:ext cx="1423467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&lt;&lt;interface&gt;&gt;</a:t>
            </a:r>
          </a:p>
          <a:p>
            <a:r>
              <a:rPr lang="en-US" dirty="0" err="1">
                <a:solidFill>
                  <a:srgbClr val="000000"/>
                </a:solidFill>
                <a:latin typeface="Arial" charset="0"/>
              </a:rPr>
              <a:t>IURLFetcher</a:t>
            </a:r>
            <a:endParaRPr lang="en-US" dirty="0"/>
          </a:p>
        </p:txBody>
      </p:sp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7077411" y="3134316"/>
            <a:ext cx="1525218" cy="648919"/>
          </a:xfrm>
          <a:prstGeom prst="rect">
            <a:avLst/>
          </a:prstGeom>
          <a:noFill/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6" name="Rectangle 13"/>
          <p:cNvSpPr>
            <a:spLocks noChangeArrowheads="1"/>
          </p:cNvSpPr>
          <p:nvPr/>
        </p:nvSpPr>
        <p:spPr bwMode="auto">
          <a:xfrm>
            <a:off x="7128286" y="3153039"/>
            <a:ext cx="1423467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&lt;&lt;interface&gt;&gt;</a:t>
            </a:r>
          </a:p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Arial" charset="0"/>
              </a:rPr>
              <a:t>IDictionary</a:t>
            </a:r>
            <a:endParaRPr lang="en-US" dirty="0"/>
          </a:p>
        </p:txBody>
      </p:sp>
      <p:sp>
        <p:nvSpPr>
          <p:cNvPr id="6166" name="Line 23"/>
          <p:cNvSpPr>
            <a:spLocks noChangeShapeType="1"/>
          </p:cNvSpPr>
          <p:nvPr/>
        </p:nvSpPr>
        <p:spPr bwMode="auto">
          <a:xfrm flipH="1">
            <a:off x="4511851" y="2327635"/>
            <a:ext cx="1038439" cy="806681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>
            <a:off x="6149088" y="2600526"/>
            <a:ext cx="858" cy="530873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>
            <a:off x="6828227" y="2296230"/>
            <a:ext cx="1024317" cy="835169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5550290" y="1749591"/>
            <a:ext cx="1277938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Rectangle 9"/>
          <p:cNvSpPr>
            <a:spLocks noChangeArrowheads="1"/>
          </p:cNvSpPr>
          <p:nvPr/>
        </p:nvSpPr>
        <p:spPr bwMode="auto">
          <a:xfrm>
            <a:off x="5759654" y="1884028"/>
            <a:ext cx="85921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Spelling</a:t>
            </a:r>
          </a:p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Checker</a:t>
            </a:r>
            <a:endParaRPr lang="en-US" dirty="0"/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5524920" y="4184516"/>
            <a:ext cx="1276350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5749611" y="4339146"/>
            <a:ext cx="923925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  Word</a:t>
            </a:r>
          </a:p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Extractor</a:t>
            </a:r>
            <a:endParaRPr lang="en-US" dirty="0"/>
          </a:p>
        </p:txBody>
      </p: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3868625" y="4184516"/>
            <a:ext cx="1390059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11"/>
          <p:cNvSpPr>
            <a:spLocks noChangeArrowheads="1"/>
          </p:cNvSpPr>
          <p:nvPr/>
        </p:nvSpPr>
        <p:spPr bwMode="auto">
          <a:xfrm>
            <a:off x="3955643" y="4556511"/>
            <a:ext cx="1244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charset="0"/>
              </a:rPr>
              <a:t>URLFetcher</a:t>
            </a:r>
            <a:endParaRPr lang="en-US" dirty="0"/>
          </a:p>
        </p:txBody>
      </p: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7149072" y="4169336"/>
            <a:ext cx="1277938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7330047" y="4469374"/>
            <a:ext cx="10255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Dictionary</a:t>
            </a:r>
            <a:endParaRPr lang="en-US" dirty="0"/>
          </a:p>
        </p:txBody>
      </p:sp>
      <p:sp>
        <p:nvSpPr>
          <p:cNvPr id="38" name="Isosceles Triangle 37"/>
          <p:cNvSpPr/>
          <p:nvPr/>
        </p:nvSpPr>
        <p:spPr>
          <a:xfrm>
            <a:off x="4452645" y="3813745"/>
            <a:ext cx="118412" cy="122412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ine 23"/>
          <p:cNvSpPr>
            <a:spLocks noChangeShapeType="1"/>
          </p:cNvSpPr>
          <p:nvPr/>
        </p:nvSpPr>
        <p:spPr bwMode="auto">
          <a:xfrm flipH="1">
            <a:off x="4511851" y="3951337"/>
            <a:ext cx="0" cy="217999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0" name="Isosceles Triangle 39"/>
          <p:cNvSpPr/>
          <p:nvPr/>
        </p:nvSpPr>
        <p:spPr>
          <a:xfrm>
            <a:off x="6090740" y="3813745"/>
            <a:ext cx="118412" cy="122412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 flipH="1">
            <a:off x="6149946" y="3951337"/>
            <a:ext cx="0" cy="217999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>
            <a:off x="7731545" y="3822313"/>
            <a:ext cx="118412" cy="122412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ine 23"/>
          <p:cNvSpPr>
            <a:spLocks noChangeShapeType="1"/>
          </p:cNvSpPr>
          <p:nvPr/>
        </p:nvSpPr>
        <p:spPr bwMode="auto">
          <a:xfrm flipH="1">
            <a:off x="7790751" y="3959905"/>
            <a:ext cx="0" cy="217999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68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</a:t>
            </a:r>
            <a:r>
              <a:rPr lang="en-US" u="sng" dirty="0"/>
              <a:t>Injection</a:t>
            </a:r>
            <a:r>
              <a:rPr lang="en-US" dirty="0"/>
              <a:t> with constructors</a:t>
            </a:r>
            <a:endParaRPr lang="en-US" u="sng" dirty="0"/>
          </a:p>
        </p:txBody>
      </p:sp>
      <p:sp>
        <p:nvSpPr>
          <p:cNvPr id="5" name="Rectangle 4"/>
          <p:cNvSpPr/>
          <p:nvPr/>
        </p:nvSpPr>
        <p:spPr>
          <a:xfrm>
            <a:off x="944550" y="1964243"/>
            <a:ext cx="6889797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SpellingChecker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IURLFetcher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fetcher;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IWordExtractor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extractor;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IDictionary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dictionary;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SpellingChecker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IURLFetcher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fetcher,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IWordExtractor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extractor,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IDictionary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dictionary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this.fetcher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fetcher;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this.extractor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extractor;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this.dictionary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dictionary;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3705" y="3623237"/>
            <a:ext cx="3368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Dependency Injection</a:t>
            </a:r>
          </a:p>
        </p:txBody>
      </p:sp>
      <p:cxnSp>
        <p:nvCxnSpPr>
          <p:cNvPr id="9" name="Straight Arrow Connector 8"/>
          <p:cNvCxnSpPr>
            <a:stCxn id="7" idx="1"/>
            <a:endCxn id="14" idx="3"/>
          </p:cNvCxnSpPr>
          <p:nvPr/>
        </p:nvCxnSpPr>
        <p:spPr>
          <a:xfrm flipH="1">
            <a:off x="7433339" y="3884847"/>
            <a:ext cx="46036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75971" y="3480565"/>
            <a:ext cx="3157368" cy="808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89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</a:t>
            </a:r>
            <a:r>
              <a:rPr lang="en-US" u="sng" dirty="0"/>
              <a:t>Injection</a:t>
            </a:r>
            <a:r>
              <a:rPr lang="en-US" dirty="0"/>
              <a:t> with setters</a:t>
            </a:r>
            <a:endParaRPr lang="en-US" u="sng" dirty="0"/>
          </a:p>
        </p:txBody>
      </p:sp>
      <p:sp>
        <p:nvSpPr>
          <p:cNvPr id="5" name="Rectangle 4"/>
          <p:cNvSpPr/>
          <p:nvPr/>
        </p:nvSpPr>
        <p:spPr>
          <a:xfrm>
            <a:off x="944550" y="1964243"/>
            <a:ext cx="688979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SpellingChecker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IURLFetcher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fetcher;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IWordExtractor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extractor;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IDictionary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dictionary;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setURLFetcher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IURLFetcher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this.fetcher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value;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setWordExtractor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IWordExtractor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this.extractor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value;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setDictionary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IDictionary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this.dictionary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value;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3705" y="4343573"/>
            <a:ext cx="3368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Dependency Injection</a:t>
            </a:r>
          </a:p>
        </p:txBody>
      </p:sp>
      <p:cxnSp>
        <p:nvCxnSpPr>
          <p:cNvPr id="9" name="Straight Arrow Connector 8"/>
          <p:cNvCxnSpPr>
            <a:stCxn id="7" idx="1"/>
            <a:endCxn id="14" idx="3"/>
          </p:cNvCxnSpPr>
          <p:nvPr/>
        </p:nvCxnSpPr>
        <p:spPr>
          <a:xfrm flipH="1">
            <a:off x="7091534" y="4605183"/>
            <a:ext cx="802171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381248" y="3427937"/>
            <a:ext cx="5710286" cy="2354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78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</a:t>
            </a:r>
            <a:r>
              <a:rPr lang="en-US" u="sng" dirty="0"/>
              <a:t>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Manually injecting dependencies into every object you create is a pain</a:t>
            </a:r>
          </a:p>
          <a:p>
            <a:endParaRPr lang="en-US" dirty="0"/>
          </a:p>
          <a:p>
            <a:r>
              <a:rPr lang="en-US" dirty="0"/>
              <a:t>Use a dependency injection library/framework to do injection for you</a:t>
            </a:r>
          </a:p>
          <a:p>
            <a:pPr lvl="1"/>
            <a:r>
              <a:rPr lang="en-US" dirty="0"/>
              <a:t>Google </a:t>
            </a:r>
            <a:r>
              <a:rPr lang="en-US" dirty="0" err="1"/>
              <a:t>Guice</a:t>
            </a:r>
            <a:r>
              <a:rPr lang="en-US" dirty="0"/>
              <a:t>, Spring (Java)</a:t>
            </a:r>
          </a:p>
          <a:p>
            <a:pPr lvl="1"/>
            <a:r>
              <a:rPr lang="en-US" dirty="0" err="1"/>
              <a:t>Inversify</a:t>
            </a:r>
            <a:r>
              <a:rPr lang="en-US" dirty="0"/>
              <a:t>, </a:t>
            </a:r>
            <a:r>
              <a:rPr lang="en-US" dirty="0" err="1"/>
              <a:t>TSyringe</a:t>
            </a:r>
            <a:r>
              <a:rPr lang="en-US" dirty="0"/>
              <a:t>, Angular (Typescript)</a:t>
            </a:r>
          </a:p>
          <a:p>
            <a:pPr lvl="1"/>
            <a:r>
              <a:rPr lang="en-US" dirty="0" err="1"/>
              <a:t>Ninject</a:t>
            </a:r>
            <a:r>
              <a:rPr lang="en-US" dirty="0"/>
              <a:t>, .NET (C#)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8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502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Designing for Testability *Dependency Injection*</vt:lpstr>
      <vt:lpstr>Review: Dependency Inversion</vt:lpstr>
      <vt:lpstr>Review: Dependency Inversion</vt:lpstr>
      <vt:lpstr>Review: Dependency Inversion</vt:lpstr>
      <vt:lpstr>The Problem</vt:lpstr>
      <vt:lpstr>EX: Dependency Inversion Exercise</vt:lpstr>
      <vt:lpstr>EX: Dependency Inversion Exercise</vt:lpstr>
      <vt:lpstr>Dependency Injection with constructors</vt:lpstr>
      <vt:lpstr>Dependency Injection with setters</vt:lpstr>
      <vt:lpstr>Dependency Injection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Factory</dc:title>
  <dc:creator>Jerod Wilkerson</dc:creator>
  <cp:lastModifiedBy>Ken Rodham</cp:lastModifiedBy>
  <cp:revision>58</cp:revision>
  <dcterms:created xsi:type="dcterms:W3CDTF">2018-11-12T21:16:18Z</dcterms:created>
  <dcterms:modified xsi:type="dcterms:W3CDTF">2025-11-17T16:20:16Z</dcterms:modified>
</cp:coreProperties>
</file>