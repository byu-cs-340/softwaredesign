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71" r:id="rId5"/>
    <p:sldId id="272" r:id="rId6"/>
    <p:sldId id="265" r:id="rId7"/>
    <p:sldId id="266" r:id="rId8"/>
    <p:sldId id="270" r:id="rId9"/>
    <p:sldId id="268" r:id="rId10"/>
    <p:sldId id="269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F3E60-9F96-40C4-9E10-C3CF58428E4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912B80-3070-4093-AA8C-B3F0A84D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0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4AE26C-D7F0-450F-A158-591043C2FD1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27F38790-E314-D24C-9BD1-0829E5EBBE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BCDAF520-1633-DE43-B69B-C79C939CD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BF6B0CC8-9360-654C-AB7D-FD407751E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6567594-CD36-074C-803F-750D4C45FB89}" type="slidenum">
              <a:rPr lang="en-US" altLang="en-US" sz="1200"/>
              <a:pPr/>
              <a:t>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457119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BE67B445-03DA-8D47-B933-D8AF081D83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EACF4F95-7AD6-BD4F-A463-4FE5C689B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85F83B0F-5C18-7B43-A3BC-1FB4CD0EF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9239B18-DB42-1740-9627-1A0D0B219F73}" type="slidenum">
              <a:rPr lang="en-US" altLang="en-US" sz="1200"/>
              <a:pPr/>
              <a:t>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387823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C23FA5-DE9B-4E6E-B77B-2A368016278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99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BE67B445-03DA-8D47-B933-D8AF081D83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EACF4F95-7AD6-BD4F-A463-4FE5C689B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85F83B0F-5C18-7B43-A3BC-1FB4CD0EF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9239B18-DB42-1740-9627-1A0D0B219F73}" type="slidenum">
              <a:rPr lang="en-US" altLang="en-US" sz="1200"/>
              <a:pPr/>
              <a:t>10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89562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BE67B445-03DA-8D47-B933-D8AF081D83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EACF4F95-7AD6-BD4F-A463-4FE5C689B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85F83B0F-5C18-7B43-A3BC-1FB4CD0EF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9239B18-DB42-1740-9627-1A0D0B219F73}" type="slidenum">
              <a:rPr lang="en-US" altLang="en-US" sz="1200"/>
              <a:pPr/>
              <a:t>11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29902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3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9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70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4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04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7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56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1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2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FF6AA-386D-4053-9A61-D83AFC6322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77A5D-225B-4B67-9AFC-73CF06374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2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Inheritance vs. Delegation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8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REVIEW: The Open-Closed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700" u="sng"/>
              <a:t>Software entities (classes and functions) should be open for extension but closed for modification.</a:t>
            </a:r>
          </a:p>
          <a:p>
            <a:endParaRPr lang="en-US" sz="1700"/>
          </a:p>
          <a:p>
            <a:pPr lvl="1"/>
            <a:r>
              <a:rPr lang="en-US" sz="1700"/>
              <a:t>We want to modify/customize a class's behavior without modifying its source code</a:t>
            </a:r>
          </a:p>
          <a:p>
            <a:pPr lvl="1"/>
            <a:endParaRPr lang="en-US" sz="1700"/>
          </a:p>
          <a:p>
            <a:pPr lvl="1"/>
            <a:r>
              <a:rPr lang="en-US" sz="1700"/>
              <a:t>Changing a class’s source code is undesirable, because:</a:t>
            </a:r>
          </a:p>
          <a:p>
            <a:pPr lvl="2"/>
            <a:r>
              <a:rPr lang="en-US" sz="1700"/>
              <a:t>We might introduce bugs into working code</a:t>
            </a:r>
          </a:p>
          <a:p>
            <a:pPr lvl="2"/>
            <a:r>
              <a:rPr lang="en-US" sz="1700"/>
              <a:t>We might break code that depends on the class that was changed (ripple effects)</a:t>
            </a:r>
          </a:p>
          <a:p>
            <a:pPr lvl="2"/>
            <a:endParaRPr lang="en-US" sz="1700"/>
          </a:p>
          <a:p>
            <a:pPr lvl="1"/>
            <a:r>
              <a:rPr lang="en-US" sz="1700"/>
              <a:t>But, how can we modify a class’s behavior without changing its source code?</a:t>
            </a:r>
          </a:p>
          <a:p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027097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The Open-Closed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4660"/>
            <a:ext cx="8376634" cy="420129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What are different ways I can make a class's functionality customizable and extendable without changing its source code?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Generic types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Class inheritance</a:t>
            </a:r>
          </a:p>
          <a:p>
            <a:pPr lvl="2"/>
            <a:r>
              <a:rPr lang="en-US" dirty="0"/>
              <a:t>Add methods and fields in subclass</a:t>
            </a:r>
          </a:p>
          <a:p>
            <a:pPr lvl="2"/>
            <a:r>
              <a:rPr lang="en-US" dirty="0"/>
              <a:t>Override superclass methods in subclass (Template Method pattern)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Flexible Dependencies (uses delegation)</a:t>
            </a:r>
          </a:p>
          <a:p>
            <a:pPr lvl="2"/>
            <a:r>
              <a:rPr lang="en-US" dirty="0"/>
              <a:t>Abstract Factory pattern</a:t>
            </a:r>
          </a:p>
          <a:p>
            <a:pPr lvl="2"/>
            <a:r>
              <a:rPr lang="en-US" dirty="0"/>
              <a:t>Dependency Injection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Strategy pattern (uses delegation)</a:t>
            </a:r>
          </a:p>
          <a:p>
            <a:pPr lvl="2"/>
            <a:r>
              <a:rPr lang="en-US" dirty="0"/>
              <a:t>Pass-in algorithms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Wrapping</a:t>
            </a:r>
          </a:p>
          <a:p>
            <a:pPr lvl="2"/>
            <a:r>
              <a:rPr lang="en-US" b="1" dirty="0"/>
              <a:t>Adapter pattern (uses delegation)</a:t>
            </a:r>
          </a:p>
          <a:p>
            <a:pPr lvl="2"/>
            <a:r>
              <a:rPr lang="en-US" b="1" dirty="0"/>
              <a:t>Decorator pattern (uses delegation)</a:t>
            </a:r>
          </a:p>
          <a:p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6562883" y="2390338"/>
            <a:ext cx="1908017" cy="2200712"/>
            <a:chOff x="8939303" y="1751492"/>
            <a:chExt cx="1996225" cy="2321289"/>
          </a:xfrm>
        </p:grpSpPr>
        <p:graphicFrame>
          <p:nvGraphicFramePr>
            <p:cNvPr id="4" name="Object 9">
              <a:extLst>
                <a:ext uri="{FF2B5EF4-FFF2-40B4-BE49-F238E27FC236}">
                  <a16:creationId xmlns:a16="http://schemas.microsoft.com/office/drawing/2014/main" id="{4124E028-8EE0-094C-A194-5FAEB3338A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0588131"/>
                </p:ext>
              </p:extLst>
            </p:nvPr>
          </p:nvGraphicFramePr>
          <p:xfrm>
            <a:off x="9423780" y="2136108"/>
            <a:ext cx="753547" cy="1936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736600" imgH="1866900" progId="Visio.Drawing.11">
                    <p:embed/>
                  </p:oleObj>
                </mc:Choice>
                <mc:Fallback>
                  <p:oleObj name="Visio" r:id="rId2" imgW="736600" imgH="1866900" progId="Visio.Drawing.11">
                    <p:embed/>
                    <p:pic>
                      <p:nvPicPr>
                        <p:cNvPr id="3" name="Object 9">
                          <a:extLst>
                            <a:ext uri="{FF2B5EF4-FFF2-40B4-BE49-F238E27FC236}">
                              <a16:creationId xmlns:a16="http://schemas.microsoft.com/office/drawing/2014/main" id="{4124E028-8EE0-094C-A194-5FAEB3338A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3780" y="2136108"/>
                          <a:ext cx="753547" cy="19366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TextBox 4"/>
            <p:cNvSpPr txBox="1"/>
            <p:nvPr/>
          </p:nvSpPr>
          <p:spPr>
            <a:xfrm>
              <a:off x="8939303" y="1751492"/>
              <a:ext cx="1996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Class Inheritance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84058" y="4668524"/>
            <a:ext cx="1822650" cy="1184484"/>
            <a:chOff x="8455048" y="4988324"/>
            <a:chExt cx="2590800" cy="1608677"/>
          </a:xfrm>
        </p:grpSpPr>
        <p:graphicFrame>
          <p:nvGraphicFramePr>
            <p:cNvPr id="6" name="Object 4">
              <a:extLst>
                <a:ext uri="{FF2B5EF4-FFF2-40B4-BE49-F238E27FC236}">
                  <a16:creationId xmlns:a16="http://schemas.microsoft.com/office/drawing/2014/main" id="{88320126-EC21-0649-802F-01A53CA702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4054056"/>
                </p:ext>
              </p:extLst>
            </p:nvPr>
          </p:nvGraphicFramePr>
          <p:xfrm>
            <a:off x="8455048" y="5585763"/>
            <a:ext cx="2590800" cy="1011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4" imgW="1968500" imgH="774700" progId="Visio.Drawing.11">
                    <p:embed/>
                  </p:oleObj>
                </mc:Choice>
                <mc:Fallback>
                  <p:oleObj name="Visio" r:id="rId4" imgW="1968500" imgH="774700" progId="Visio.Drawing.11">
                    <p:embed/>
                    <p:pic>
                      <p:nvPicPr>
                        <p:cNvPr id="4" name="Object 4">
                          <a:extLst>
                            <a:ext uri="{FF2B5EF4-FFF2-40B4-BE49-F238E27FC236}">
                              <a16:creationId xmlns:a16="http://schemas.microsoft.com/office/drawing/2014/main" id="{88320126-EC21-0649-802F-01A53CA702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5048" y="5585763"/>
                          <a:ext cx="2590800" cy="1011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/>
            <p:cNvSpPr txBox="1"/>
            <p:nvPr/>
          </p:nvSpPr>
          <p:spPr>
            <a:xfrm>
              <a:off x="8927440" y="4988324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Delegation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56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3" name="Freeform: Shape 718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47178-204D-961B-4946-3EEC7BAA2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REVIEW: Adapter Pattern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01D2DF8-4506-71D6-EEB9-8AEED1D43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170954"/>
            <a:ext cx="7225748" cy="4516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65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7" name="Freeform: Shape 820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6258D9-6561-77B7-1DA4-0FCBD1AA4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Decorator Pattern (modified)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00C16B3-C682-D1EC-D48B-32408A18D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494286"/>
            <a:ext cx="7225748" cy="386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27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3" name="Rectangle 1639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395" name="Rectangle 1639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7" name="Rectangle 1639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99" name="Rectangle 1639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01" name="Rectangle 1640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403" name="Freeform: Shape 1640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405" name="Rectangle 1640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FABE65E-86FE-8547-9546-B4C8A6415AC6}"/>
              </a:ext>
            </a:extLst>
          </p:cNvPr>
          <p:cNvSpPr txBox="1">
            <a:spLocks noChangeArrowheads="1"/>
          </p:cNvSpPr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Between </a:t>
            </a:r>
            <a:b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Delegation and Inheritance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What type of relationship is being modeled?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B “has-a” A =&gt; delegation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B “uses” A =&gt; delegation</a:t>
            </a:r>
          </a:p>
          <a:p>
            <a:pPr lvl="1"/>
            <a:endParaRPr lang="en-US" sz="2000"/>
          </a:p>
          <a:p>
            <a:pPr lvl="1"/>
            <a:r>
              <a:rPr lang="en-US" sz="2000"/>
              <a:t>B “is-a” A =&gt; inheritance</a:t>
            </a:r>
          </a:p>
          <a:p>
            <a:pPr lvl="2"/>
            <a:r>
              <a:rPr lang="en-US" dirty="0"/>
              <a:t>Specialization</a:t>
            </a:r>
          </a:p>
          <a:p>
            <a:pPr marL="457200" lvl="1"/>
            <a:endParaRPr lang="en-US" sz="2000"/>
          </a:p>
          <a:p>
            <a:endParaRPr lang="en-US" sz="200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775AB99-4C4E-4103-995E-A9C4E01CBB8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020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800" name="Rectangle 3379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802" name="Rectangle 3380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04" name="Rectangle 3380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06" name="Rectangle 3380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08" name="Rectangle 3380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810" name="Freeform: Shape 3380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812" name="Rectangle 3381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7FABE65E-86FE-8547-9546-B4C8A6415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Choosing Between </a:t>
            </a:r>
            <a:b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</a:br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Delegation and Inheritance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3EAB55E-516B-F548-A2B2-CF8965AAA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ja-JP" altLang="en-US" sz="2000">
                <a:ea typeface="ＭＳ Ｐゴシック" panose="020B0600070205080204" pitchFamily="34" charset="-128"/>
              </a:rPr>
              <a:t>“</a:t>
            </a:r>
            <a:r>
              <a:rPr lang="en-US" altLang="ja-JP" sz="2000">
                <a:ea typeface="ＭＳ Ｐゴシック" panose="020B0600070205080204" pitchFamily="34" charset="-128"/>
              </a:rPr>
              <a:t>Favor object composition over class inheritance.</a:t>
            </a:r>
            <a:r>
              <a:rPr lang="ja-JP" altLang="en-US" sz="2000">
                <a:ea typeface="ＭＳ Ｐゴシック" panose="020B0600070205080204" pitchFamily="34" charset="-128"/>
              </a:rPr>
              <a:t>”</a:t>
            </a:r>
            <a:r>
              <a:rPr lang="en-US" altLang="ja-JP" sz="2000">
                <a:ea typeface="ＭＳ Ｐゴシック" panose="020B0600070205080204" pitchFamily="34" charset="-128"/>
              </a:rPr>
              <a:t> [Design Patterns, pg. 20]</a:t>
            </a:r>
          </a:p>
          <a:p>
            <a:pPr lvl="1"/>
            <a:r>
              <a:rPr lang="en-US" altLang="ja-JP" sz="2000">
                <a:ea typeface="ＭＳ Ｐゴシック" panose="020B0600070205080204" pitchFamily="34" charset="-128"/>
              </a:rPr>
              <a:t>Composition is a synonym of Delegation</a:t>
            </a:r>
          </a:p>
          <a:p>
            <a:endParaRPr lang="en-US" altLang="ja-JP" sz="2000">
              <a:ea typeface="ＭＳ Ｐゴシック" panose="020B0600070205080204" pitchFamily="34" charset="-128"/>
            </a:endParaRPr>
          </a:p>
          <a:p>
            <a:r>
              <a:rPr lang="en-US" altLang="ja-JP" sz="2000">
                <a:ea typeface="ＭＳ Ｐゴシック" panose="020B0600070205080204" pitchFamily="34" charset="-128"/>
              </a:rPr>
              <a:t>Why?</a:t>
            </a:r>
          </a:p>
          <a:p>
            <a:endParaRPr lang="en-US" altLang="en-US" sz="2000">
              <a:ea typeface="ＭＳ Ｐゴシック" panose="020B0600070205080204" pitchFamily="34" charset="-128"/>
            </a:endParaRPr>
          </a:p>
          <a:p>
            <a:endParaRPr lang="en-US" altLang="en-US" sz="2000">
              <a:ea typeface="ＭＳ Ｐゴシック" panose="020B0600070205080204" pitchFamily="34" charset="-128"/>
            </a:endParaRPr>
          </a:p>
          <a:p>
            <a:pPr lvl="1"/>
            <a:endParaRPr lang="en-US" altLang="en-US" sz="2000">
              <a:ea typeface="ＭＳ Ｐゴシック" panose="020B0600070205080204" pitchFamily="34" charset="-128"/>
            </a:endParaRPr>
          </a:p>
          <a:p>
            <a:pPr lvl="1"/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075C1F03-A1D5-E347-BE6D-1361CC841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600"/>
              </a:spcAft>
            </a:pPr>
            <a:fld id="{69919860-B7AD-A349-BD7B-9C2F8C8EEB66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6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4649F5DD-19E6-0C41-8D0A-ED2B32AF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10BF517-31F9-6A40-B7C9-F02D0C2372BE}" type="slidenum">
              <a:rPr lang="en-US" altLang="en-US" sz="1400"/>
              <a:pPr/>
              <a:t>8</a:t>
            </a:fld>
            <a:endParaRPr lang="en-US" altLang="en-US" sz="14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8EB86A1-1E5D-D44F-A8C3-6B6F4B63B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Choosing Between </a:t>
            </a:r>
            <a:br>
              <a:rPr lang="en-US" altLang="en-US" sz="4000" dirty="0">
                <a:ea typeface="ＭＳ Ｐゴシック" panose="020B0600070205080204" pitchFamily="34" charset="-128"/>
              </a:rPr>
            </a:br>
            <a:r>
              <a:rPr lang="en-US" altLang="en-US" sz="4000" dirty="0">
                <a:ea typeface="ＭＳ Ｐゴシック" panose="020B0600070205080204" pitchFamily="34" charset="-128"/>
              </a:rPr>
              <a:t>Delegation and Inheritance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BD1E91F-BA67-3140-9601-7E2CB9DC4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6"/>
            <a:ext cx="9355428" cy="149712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Delegation is more flexible than inheritance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Pointers can be swapped at runtime, but super-classes cannot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Example:</a:t>
            </a:r>
          </a:p>
          <a:p>
            <a:pPr marL="457200" lvl="1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864283"/>
              </p:ext>
            </p:extLst>
          </p:nvPr>
        </p:nvGraphicFramePr>
        <p:xfrm>
          <a:off x="902595" y="3610590"/>
          <a:ext cx="3276600" cy="203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483843" imgH="1546537" progId="Visio.Drawing.11">
                  <p:embed/>
                </p:oleObj>
              </mc:Choice>
              <mc:Fallback>
                <p:oleObj name="Visio" r:id="rId3" imgW="2483843" imgH="1546537" progId="Visio.Drawing.11">
                  <p:embed/>
                  <p:pic>
                    <p:nvPicPr>
                      <p:cNvPr id="512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595" y="3610590"/>
                        <a:ext cx="3276600" cy="203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914" y="3491527"/>
            <a:ext cx="488632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1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3" name="Rectangle 2151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515" name="Rectangle 2151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7" name="Rectangle 2151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9" name="Rectangle 2151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21" name="Rectangle 2152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523" name="Freeform: Shape 2152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525" name="Rectangle 2152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8EB86A1-1E5D-D44F-A8C3-6B6F4B63B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Choosing Between </a:t>
            </a:r>
            <a:b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</a:br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Delegation and Inheritance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Inheritance leads to tighter coupling than delegation</a:t>
            </a:r>
          </a:p>
          <a:p>
            <a:endParaRPr lang="en-US" sz="2000"/>
          </a:p>
          <a:p>
            <a:r>
              <a:rPr lang="en-US" sz="2000"/>
              <a:t>Inheritance is sometimes called “white box reuse” and delegation called “black box reuse”</a:t>
            </a:r>
          </a:p>
          <a:p>
            <a:r>
              <a:rPr lang="en-US" sz="2000"/>
              <a:t>Unwise programmers, when they realize they need to subclass an existing class, make all the “private” features “protected”, make all the methods “virtual”, and say, “There, now it’s a base class!”.</a:t>
            </a:r>
          </a:p>
          <a:p>
            <a:r>
              <a:rPr lang="en-US" sz="2000"/>
              <a:t>This approach results in extremely high coupling between a base class and its subclasses, and results in a </a:t>
            </a:r>
            <a:r>
              <a:rPr lang="en-US" sz="2000" i="1"/>
              <a:t>fragile base class</a:t>
            </a:r>
            <a:r>
              <a:rPr lang="en-US" sz="2000"/>
              <a:t> (i.e., a base class that is difficult to change without breaking its subclasses)</a:t>
            </a:r>
          </a:p>
          <a:p>
            <a:r>
              <a:rPr lang="en-US" sz="2000"/>
              <a:t>Information hiding is still a good practice, even between base and sub-classes</a:t>
            </a:r>
          </a:p>
          <a:p>
            <a:r>
              <a:rPr lang="en-US" sz="2000"/>
              <a:t>Keep base class members private whenever possible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1666D23-636E-4E7F-BC23-BD7C1B425071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51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848" name="Rectangle 3584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850" name="Rectangle 3584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52" name="Rectangle 3585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54" name="Rectangle 3585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56" name="Rectangle 3585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858" name="Freeform: Shape 3585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860" name="Rectangle 3585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8EB86A1-1E5D-D44F-A8C3-6B6F4B63B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Choosing Between </a:t>
            </a:r>
            <a:b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</a:br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Delegation and Inheritance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BD1E91F-BA67-3140-9601-7E2CB9DC4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Delegation allows control over which delegate features are exposed, and what the API looks like</a:t>
            </a:r>
          </a:p>
          <a:p>
            <a:endParaRPr lang="en-US" altLang="en-US" sz="2000"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 panose="020B0600070205080204" pitchFamily="34" charset="-128"/>
              </a:rPr>
              <a:t>Inheritance is easier if you want to expose many of the superclass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ea typeface="ＭＳ Ｐゴシック" panose="020B0600070205080204" pitchFamily="34" charset="-128"/>
              </a:rPr>
              <a:t> features</a:t>
            </a:r>
          </a:p>
          <a:p>
            <a:pPr lvl="1"/>
            <a:r>
              <a:rPr lang="en-US" altLang="en-US" sz="2000">
                <a:ea typeface="ＭＳ Ｐゴシック" panose="020B0600070205080204" pitchFamily="34" charset="-128"/>
              </a:rPr>
              <a:t>Although, IDEs like Intellij have a handy </a:t>
            </a:r>
            <a:r>
              <a:rPr lang="ja-JP" altLang="en-US" sz="2000">
                <a:ea typeface="ＭＳ Ｐゴシック" panose="020B0600070205080204" pitchFamily="34" charset="-128"/>
              </a:rPr>
              <a:t>“</a:t>
            </a:r>
            <a:r>
              <a:rPr lang="en-US" altLang="ja-JP" sz="2000">
                <a:ea typeface="ＭＳ Ｐゴシック" panose="020B0600070205080204" pitchFamily="34" charset="-128"/>
              </a:rPr>
              <a:t>Generate Delegate Methods</a:t>
            </a:r>
            <a:r>
              <a:rPr lang="ja-JP" altLang="en-US" sz="2000">
                <a:ea typeface="ＭＳ Ｐゴシック" panose="020B0600070205080204" pitchFamily="34" charset="-128"/>
              </a:rPr>
              <a:t>”</a:t>
            </a:r>
            <a:r>
              <a:rPr lang="en-US" altLang="ja-JP" sz="2000">
                <a:ea typeface="ＭＳ Ｐゴシック" panose="020B0600070205080204" pitchFamily="34" charset="-128"/>
              </a:rPr>
              <a:t> option for exposing delegate features if you</a:t>
            </a:r>
            <a:r>
              <a:rPr lang="ja-JP" altLang="en-US" sz="2000">
                <a:ea typeface="ＭＳ Ｐゴシック" panose="020B0600070205080204" pitchFamily="34" charset="-128"/>
              </a:rPr>
              <a:t>’</a:t>
            </a:r>
            <a:r>
              <a:rPr lang="en-US" altLang="ja-JP" sz="2000">
                <a:ea typeface="ＭＳ Ｐゴシック" panose="020B0600070205080204" pitchFamily="34" charset="-128"/>
              </a:rPr>
              <a:t>re using delegation</a:t>
            </a:r>
          </a:p>
          <a:p>
            <a:pPr lvl="1"/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4649F5DD-19E6-0C41-8D0A-ED2B32AF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600"/>
              </a:spcAft>
            </a:pPr>
            <a:fld id="{710BF517-31F9-6A40-B7C9-F02D0C2372BE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15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848" name="Rectangle 3584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850" name="Rectangle 3584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52" name="Rectangle 3585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54" name="Rectangle 3585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56" name="Rectangle 3585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858" name="Freeform: Shape 3585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860" name="Rectangle 3585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8EB86A1-1E5D-D44F-A8C3-6B6F4B63B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Choosing Between </a:t>
            </a:r>
            <a:b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</a:br>
            <a:r>
              <a:rPr lang="en-US" altLang="en-US" sz="4000">
                <a:solidFill>
                  <a:srgbClr val="FFFFFF"/>
                </a:solidFill>
                <a:ea typeface="ＭＳ Ｐゴシック" panose="020B0600070205080204" pitchFamily="34" charset="-128"/>
              </a:rPr>
              <a:t>Delegation and Inheritance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BD1E91F-BA67-3140-9601-7E2CB9DC44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Inheritance supports polymorphism, delegation does not</a:t>
            </a:r>
          </a:p>
          <a:p>
            <a:endParaRPr lang="en-US" altLang="en-US" sz="2000">
              <a:ea typeface="ＭＳ Ｐゴシック" panose="020B0600070205080204" pitchFamily="34" charset="-128"/>
            </a:endParaRPr>
          </a:p>
          <a:p>
            <a:r>
              <a:rPr lang="en-US" altLang="en-US" sz="2000">
                <a:ea typeface="ＭＳ Ｐゴシック" panose="020B0600070205080204" pitchFamily="34" charset="-128"/>
              </a:rPr>
              <a:t>If you need polymorphism, you must use some kind of inheritance (class or interface)</a:t>
            </a:r>
          </a:p>
        </p:txBody>
      </p:sp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4649F5DD-19E6-0C41-8D0A-ED2B32AF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600"/>
              </a:spcAft>
            </a:pPr>
            <a:fld id="{710BF517-31F9-6A40-B7C9-F02D0C2372BE}" type="slidenum">
              <a:rPr lang="en-US" alt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alt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66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502</Words>
  <Application>Microsoft Office PowerPoint</Application>
  <PresentationFormat>Widescreen</PresentationFormat>
  <Paragraphs>83</Paragraphs>
  <Slides>11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ＭＳ Ｐゴシック</vt:lpstr>
      <vt:lpstr>Arial</vt:lpstr>
      <vt:lpstr>Calibri</vt:lpstr>
      <vt:lpstr>Calibri Light</vt:lpstr>
      <vt:lpstr>Office Theme</vt:lpstr>
      <vt:lpstr>Visio</vt:lpstr>
      <vt:lpstr>Inheritance vs. Delegation</vt:lpstr>
      <vt:lpstr>REVIEW: The Open-Closed Principle</vt:lpstr>
      <vt:lpstr>REVIEW: The Open-Closed Principle</vt:lpstr>
      <vt:lpstr>REVIEW: Adapter Pattern</vt:lpstr>
      <vt:lpstr>Decorator Pattern (modified)</vt:lpstr>
      <vt:lpstr>PowerPoint Presentation</vt:lpstr>
      <vt:lpstr>Choosing Between  Delegation and Inheritance</vt:lpstr>
      <vt:lpstr>Choosing Between  Delegation and Inheritance</vt:lpstr>
      <vt:lpstr>Choosing Between  Delegation and Inheritance</vt:lpstr>
      <vt:lpstr>Choosing Between  Delegation and Inheritance</vt:lpstr>
      <vt:lpstr>Choosing Between  Delegation and Inheritance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vs. Delegation</dc:title>
  <dc:creator>ken.rodham@gmail.com</dc:creator>
  <cp:lastModifiedBy>Ken Rodham</cp:lastModifiedBy>
  <cp:revision>34</cp:revision>
  <dcterms:created xsi:type="dcterms:W3CDTF">2021-06-06T23:10:41Z</dcterms:created>
  <dcterms:modified xsi:type="dcterms:W3CDTF">2025-12-01T22:29:00Z</dcterms:modified>
</cp:coreProperties>
</file>